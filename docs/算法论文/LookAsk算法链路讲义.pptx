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ookask_algo_defen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ookask_algo_defens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b27c9b608dc87e1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over-title"/>
          <p:cNvGrpSpPr/>
          <p:nvPr/>
        </p:nvGrpSpPr>
        <p:grpSpPr>
          <a:xfrm>
            <a:off x="590550" y="844868"/>
            <a:ext cx="6776405" cy="2385821"/>
            <a:chOff x="590550" y="844868"/>
            <a:chExt cx="6776405" cy="2385821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844868"/>
              <a:ext cx="1710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LookAsk · 看哪问哪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291590"/>
              <a:ext cx="677640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LookAsk 算法链路讲义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9694" y="2113598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从摄像头到「指着哪个词」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1218" y="2603182"/>
              <a:ext cx="3579114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普通摄像头眼动只有段落级精度，</a:t>
              </a:r>
              <a:br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这条算法链</a:t>
              </a: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把它放大成词级可用的指向</a:t>
              </a:r>
            </a:p>
          </p:txBody>
        </p:sp>
      </p:grpSp>
      <p:grpSp>
        <p:nvGrpSpPr>
          <p:cNvPr id="13" name="hook-paragraph"/>
          <p:cNvGrpSpPr/>
          <p:nvPr/>
        </p:nvGrpSpPr>
        <p:grpSpPr>
          <a:xfrm>
            <a:off x="723900" y="3543300"/>
            <a:ext cx="2628900" cy="1832801"/>
            <a:chOff x="723900" y="3543300"/>
            <a:chExt cx="2628900" cy="1832801"/>
          </a:xfrm>
        </p:grpSpPr>
        <p:sp>
          <p:nvSpPr>
            <p:cNvPr id="7" name="Rectangle 7"/>
            <p:cNvSpPr/>
            <p:nvPr/>
          </p:nvSpPr>
          <p:spPr>
            <a:xfrm>
              <a:off x="723900" y="3543300"/>
              <a:ext cx="2628900" cy="1257300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alpha val="10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3790950"/>
              <a:ext cx="2171700" cy="1143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4038600"/>
              <a:ext cx="2019300" cy="1143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952500" y="4286250"/>
              <a:ext cx="2171700" cy="1143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52500" y="4533900"/>
              <a:ext cx="1428750" cy="1143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2807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眼睛：大概在看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这一段</a:t>
              </a:r>
            </a:p>
          </p:txBody>
        </p:sp>
      </p:grpSp>
      <p:grpSp>
        <p:nvGrpSpPr>
          <p:cNvPr id="15" name="hook-arrow"/>
          <p:cNvGrpSpPr/>
          <p:nvPr/>
        </p:nvGrpSpPr>
        <p:grpSpPr>
          <a:xfrm>
            <a:off x="3619500" y="4171950"/>
            <a:ext cx="723900" cy="1"/>
            <a:chOff x="3619500" y="4171950"/>
            <a:chExt cx="723900" cy="1"/>
          </a:xfrm>
        </p:grpSpPr>
        <p:sp>
          <p:nvSpPr>
            <p:cNvPr id="14" name="Line 14"/>
            <p:cNvSpPr/>
            <p:nvPr/>
          </p:nvSpPr>
          <p:spPr>
            <a:xfrm>
              <a:off x="3619500" y="4171950"/>
              <a:ext cx="723900" cy="1"/>
            </a:xfrm>
            <a:prstGeom prst="line">
              <a:avLst/>
            </a:prstGeom>
            <a:noFill/>
            <a:ln w="19050">
              <a:solidFill>
                <a:srgbClr val="6E6E73"/>
              </a:solidFill>
              <a:tailEnd type="triangle" w="lg" len="lg"/>
            </a:ln>
          </p:spPr>
        </p:sp>
      </p:grpSp>
      <p:grpSp>
        <p:nvGrpSpPr>
          <p:cNvPr id="24" name="hook-word"/>
          <p:cNvGrpSpPr/>
          <p:nvPr/>
        </p:nvGrpSpPr>
        <p:grpSpPr>
          <a:xfrm>
            <a:off x="4851740" y="3790950"/>
            <a:ext cx="2221821" cy="1585151"/>
            <a:chOff x="4851740" y="3790950"/>
            <a:chExt cx="2221821" cy="1585151"/>
          </a:xfrm>
        </p:grpSpPr>
        <p:sp>
          <p:nvSpPr>
            <p:cNvPr id="16" name="Rectangle 16"/>
            <p:cNvSpPr/>
            <p:nvPr/>
          </p:nvSpPr>
          <p:spPr>
            <a:xfrm>
              <a:off x="4876800" y="3790950"/>
              <a:ext cx="2171700" cy="1143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876800" y="4038600"/>
              <a:ext cx="666750" cy="1143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619750" y="4010025"/>
              <a:ext cx="685800" cy="171450"/>
            </a:xfrm>
            <a:prstGeom prst="roundRect">
              <a:avLst>
                <a:gd name="adj" fmla="val 27778"/>
              </a:avLst>
            </a:prstGeom>
            <a:solidFill>
              <a:srgbClr val="FACC1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524500" y="3933825"/>
              <a:ext cx="876300" cy="323850"/>
            </a:xfrm>
            <a:prstGeom prst="roundRect">
              <a:avLst>
                <a:gd name="adj" fmla="val 35294"/>
              </a:avLst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77000" y="4038600"/>
              <a:ext cx="419100" cy="1143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876800" y="4286250"/>
              <a:ext cx="2171700" cy="1143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76800" y="4533900"/>
              <a:ext cx="1428750" cy="1143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851740" y="51120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算法链 + 手柄：指到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这个词</a:t>
              </a:r>
            </a:p>
          </p:txBody>
        </p:sp>
      </p:grpSp>
      <p:grpSp>
        <p:nvGrpSpPr>
          <p:cNvPr id="29" name="cover-icon"/>
          <p:cNvGrpSpPr/>
          <p:nvPr/>
        </p:nvGrpSpPr>
        <p:grpSpPr>
          <a:xfrm>
            <a:off x="7924800" y="609600"/>
            <a:ext cx="3657600" cy="5029200"/>
            <a:chOff x="7924800" y="609600"/>
            <a:chExt cx="3657600" cy="5029200"/>
          </a:xfrm>
        </p:grpSpPr>
        <p:sp>
          <p:nvSpPr>
            <p:cNvPr id="25" name="Rectangle 25"/>
            <p:cNvSpPr/>
            <p:nvPr/>
          </p:nvSpPr>
          <p:spPr>
            <a:xfrm>
              <a:off x="7924800" y="609600"/>
              <a:ext cx="3657600" cy="5029200"/>
            </a:xfrm>
            <a:prstGeom prst="roundRect">
              <a:avLst>
                <a:gd name="adj" fmla="val 7292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29600" y="1066800"/>
              <a:ext cx="3048000" cy="3048000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8642690" y="452151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眼睛轮廓 = 摄像头看你在哪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47322" y="4826318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虹膜 = 摇杆底座，琥珀点 = 焦点</a:t>
              </a:r>
            </a:p>
          </p:txBody>
        </p:sp>
      </p:grpSp>
      <p:grpSp>
        <p:nvGrpSpPr>
          <p:cNvPr id="33" name="cover-footer"/>
          <p:cNvGrpSpPr/>
          <p:nvPr/>
        </p:nvGrpSpPr>
        <p:grpSpPr>
          <a:xfrm>
            <a:off x="603885" y="6172200"/>
            <a:ext cx="10984230" cy="365284"/>
            <a:chOff x="603885" y="6172200"/>
            <a:chExt cx="10984230" cy="365284"/>
          </a:xfrm>
        </p:grpSpPr>
        <p:sp>
          <p:nvSpPr>
            <p:cNvPr id="30" name="Line 30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885" y="6317456"/>
              <a:ext cx="3286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配套论文：docs/算法论文/LookAsk_paper.pdf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5843" y="63174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写给以后回来的自己 · 2026-09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5884" y="622935"/>
            <a:ext cx="6974548" cy="798004"/>
            <a:chOff x="595884" y="622935"/>
            <a:chExt cx="6974548" cy="798004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22935"/>
              <a:ext cx="65699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一张图看懂：从摄像头到「指着哪个词」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98232"/>
              <a:ext cx="69692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整个系统是一条单向数据流，分成三层：眼动估计 → 视线到文字 → 决策</a:t>
              </a:r>
            </a:p>
          </p:txBody>
        </p:sp>
      </p:grpSp>
      <p:grpSp>
        <p:nvGrpSpPr>
          <p:cNvPr id="40" name="lane-gaze"/>
          <p:cNvGrpSpPr/>
          <p:nvPr/>
        </p:nvGrpSpPr>
        <p:grpSpPr>
          <a:xfrm>
            <a:off x="609600" y="1524000"/>
            <a:ext cx="10972800" cy="1333500"/>
            <a:chOff x="609600" y="1524000"/>
            <a:chExt cx="10972800" cy="133350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10972800" cy="1333500"/>
            </a:xfrm>
            <a:prstGeom prst="roundRect">
              <a:avLst>
                <a:gd name="adj" fmla="val 14286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800100" y="1790700"/>
              <a:ext cx="228599" cy="152400"/>
              <a:chOff x="800100" y="1790700"/>
              <a:chExt cx="228599" cy="152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89000" y="18415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00100" y="1790700"/>
                <a:ext cx="228599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52400">
                    <a:moveTo>
                      <a:pt x="228599" y="76200"/>
                    </a:moveTo>
                    <a:cubicBezTo>
                      <a:pt x="198120" y="127000"/>
                      <a:pt x="160020" y="152400"/>
                      <a:pt x="114300" y="152400"/>
                    </a:cubicBezTo>
                    <a:cubicBezTo>
                      <a:pt x="68580" y="152400"/>
                      <a:pt x="30480" y="127000"/>
                      <a:pt x="0" y="76200"/>
                    </a:cubicBezTo>
                    <a:cubicBezTo>
                      <a:pt x="30480" y="25400"/>
                      <a:pt x="68580" y="0"/>
                      <a:pt x="114300" y="0"/>
                    </a:cubicBezTo>
                    <a:cubicBezTo>
                      <a:pt x="160020" y="0"/>
                      <a:pt x="198120" y="25400"/>
                      <a:pt x="228599" y="762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754380" y="2162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眼动估计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245030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1 层 · 算坐标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981200" y="1762125"/>
              <a:ext cx="9372600" cy="857250"/>
              <a:chOff x="1981200" y="1762125"/>
              <a:chExt cx="9372600" cy="8572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981200" y="1762125"/>
                <a:ext cx="1143000" cy="857250"/>
              </a:xfrm>
              <a:prstGeom prst="roundRect">
                <a:avLst>
                  <a:gd name="adj" fmla="val 1555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273236" y="1978342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摄像头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151202" y="2250281"/>
                <a:ext cx="8029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30fps 720p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3352800" y="1762125"/>
                <a:ext cx="1143000" cy="857250"/>
              </a:xfrm>
              <a:prstGeom prst="roundRect">
                <a:avLst>
                  <a:gd name="adj" fmla="val 1555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468196" y="1978342"/>
                <a:ext cx="9122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MediaPipe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470031" y="2250281"/>
                <a:ext cx="9085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478 个关键点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4724400" y="1762125"/>
                <a:ext cx="1143000" cy="857250"/>
              </a:xfrm>
              <a:prstGeom prst="roundRect">
                <a:avLst>
                  <a:gd name="adj" fmla="val 1555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729181" y="1978342"/>
                <a:ext cx="11334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RealEye 特征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984867" y="2250281"/>
                <a:ext cx="6220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≈1650 维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6096000" y="1762125"/>
                <a:ext cx="1143000" cy="857250"/>
              </a:xfrm>
              <a:prstGeom prst="roundRect">
                <a:avLst>
                  <a:gd name="adj" fmla="val 15556"/>
                </a:avLst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206299" y="1978342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对偶岭回归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296157" y="2250281"/>
                <a:ext cx="74268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→ 屏幕坐标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7467600" y="1762125"/>
                <a:ext cx="1143000" cy="857250"/>
              </a:xfrm>
              <a:prstGeom prst="roundRect">
                <a:avLst>
                  <a:gd name="adj" fmla="val 15556"/>
                </a:avLst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68768" y="1978342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漂移校正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679065" y="2250281"/>
                <a:ext cx="72007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+(dx, dy)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8839200" y="1762125"/>
                <a:ext cx="1143000" cy="857250"/>
              </a:xfrm>
              <a:prstGeom prst="roundRect">
                <a:avLst>
                  <a:gd name="adj" fmla="val 1555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982088" y="1978342"/>
                <a:ext cx="85722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One Euro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178823" y="2250281"/>
                <a:ext cx="4637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去抖动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10210800" y="1762125"/>
                <a:ext cx="1143000" cy="857250"/>
              </a:xfrm>
              <a:prstGeom prst="roundRect">
                <a:avLst>
                  <a:gd name="adj" fmla="val 15556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578857" y="1978342"/>
                <a:ext cx="406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I-DT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475036" y="2250281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注视事件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143250" y="2190750"/>
              <a:ext cx="7038975" cy="1"/>
              <a:chOff x="3143250" y="2190750"/>
              <a:chExt cx="7038975" cy="1"/>
            </a:xfrm>
          </p:grpSpPr>
          <p:sp>
            <p:nvSpPr>
              <p:cNvPr id="33" name="Line 33"/>
              <p:cNvSpPr/>
              <p:nvPr/>
            </p:nvSpPr>
            <p:spPr>
              <a:xfrm>
                <a:off x="3143250" y="2190750"/>
                <a:ext cx="180975" cy="1"/>
              </a:xfrm>
              <a:prstGeom prst="line">
                <a:avLst/>
              </a:prstGeom>
              <a:noFill/>
              <a:ln w="19050">
                <a:solidFill>
                  <a:srgbClr val="6E6E73"/>
                </a:solidFill>
                <a:tailEnd type="triangle" w="lg" len="lg"/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4514850" y="2190750"/>
                <a:ext cx="180975" cy="1"/>
              </a:xfrm>
              <a:prstGeom prst="line">
                <a:avLst/>
              </a:prstGeom>
              <a:noFill/>
              <a:ln w="19050">
                <a:solidFill>
                  <a:srgbClr val="6E6E73"/>
                </a:solidFill>
                <a:tailEnd type="triangle" w="lg" len="lg"/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5886450" y="2190750"/>
                <a:ext cx="180975" cy="1"/>
              </a:xfrm>
              <a:prstGeom prst="line">
                <a:avLst/>
              </a:prstGeom>
              <a:noFill/>
              <a:ln w="19050">
                <a:solidFill>
                  <a:srgbClr val="6E6E73"/>
                </a:solidFill>
                <a:tailEnd type="triangle" w="lg" len="lg"/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7258050" y="2190750"/>
                <a:ext cx="180975" cy="1"/>
              </a:xfrm>
              <a:prstGeom prst="line">
                <a:avLst/>
              </a:prstGeom>
              <a:noFill/>
              <a:ln w="19050">
                <a:solidFill>
                  <a:srgbClr val="6E6E73"/>
                </a:solidFill>
                <a:tailEnd type="triangle" w="lg" len="lg"/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8629650" y="2190750"/>
                <a:ext cx="180975" cy="1"/>
              </a:xfrm>
              <a:prstGeom prst="line">
                <a:avLst/>
              </a:prstGeom>
              <a:noFill/>
              <a:ln w="19050">
                <a:solidFill>
                  <a:srgbClr val="6E6E73"/>
                </a:solidFill>
                <a:tailEnd type="triangle" w="lg" len="lg"/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10001250" y="2190750"/>
                <a:ext cx="180975" cy="1"/>
              </a:xfrm>
              <a:prstGeom prst="line">
                <a:avLst/>
              </a:prstGeom>
              <a:noFill/>
              <a:ln w="19050">
                <a:solidFill>
                  <a:srgbClr val="6E6E73"/>
                </a:solidFill>
                <a:tailEnd type="triangle" w="lg" len="lg"/>
              </a:ln>
            </p:spPr>
          </p:sp>
        </p:grpSp>
      </p:grpSp>
      <p:grpSp>
        <p:nvGrpSpPr>
          <p:cNvPr id="42" name="turn-1"/>
          <p:cNvGrpSpPr/>
          <p:nvPr/>
        </p:nvGrpSpPr>
        <p:grpSpPr>
          <a:xfrm>
            <a:off x="10782300" y="2876550"/>
            <a:ext cx="1" cy="400050"/>
            <a:chOff x="10782300" y="2876550"/>
            <a:chExt cx="1" cy="400050"/>
          </a:xfrm>
        </p:grpSpPr>
        <p:sp>
          <p:nvSpPr>
            <p:cNvPr id="41" name="Line 41"/>
            <p:cNvSpPr/>
            <p:nvPr/>
          </p:nvSpPr>
          <p:spPr>
            <a:xfrm>
              <a:off x="10782300" y="2876550"/>
              <a:ext cx="1" cy="400050"/>
            </a:xfrm>
            <a:prstGeom prst="line">
              <a:avLst/>
            </a:prstGeom>
            <a:noFill/>
            <a:ln w="19050">
              <a:solidFill>
                <a:srgbClr val="6E6E73"/>
              </a:solidFill>
              <a:tailEnd type="triangle" w="lg" len="lg"/>
            </a:ln>
          </p:spPr>
        </p:sp>
      </p:grpSp>
      <p:grpSp>
        <p:nvGrpSpPr>
          <p:cNvPr id="66" name="lane-text"/>
          <p:cNvGrpSpPr/>
          <p:nvPr/>
        </p:nvGrpSpPr>
        <p:grpSpPr>
          <a:xfrm>
            <a:off x="609600" y="3314700"/>
            <a:ext cx="10972800" cy="1066800"/>
            <a:chOff x="609600" y="3314700"/>
            <a:chExt cx="10972800" cy="1066800"/>
          </a:xfrm>
        </p:grpSpPr>
        <p:sp>
          <p:nvSpPr>
            <p:cNvPr id="43" name="Rectangle 43"/>
            <p:cNvSpPr/>
            <p:nvPr/>
          </p:nvSpPr>
          <p:spPr>
            <a:xfrm>
              <a:off x="609600" y="3314700"/>
              <a:ext cx="10972800" cy="1066800"/>
            </a:xfrm>
            <a:prstGeom prst="roundRect">
              <a:avLst>
                <a:gd name="adj" fmla="val 17857"/>
              </a:avLst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800100" y="3486150"/>
              <a:ext cx="228599" cy="228599"/>
              <a:chOff x="800100" y="3486150"/>
              <a:chExt cx="228599" cy="228599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08050" y="3594100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>
                    <a:moveTo>
                      <a:pt x="0" y="6350"/>
                    </a:moveTo>
                    <a:cubicBezTo>
                      <a:pt x="0" y="9857"/>
                      <a:pt x="2843" y="12700"/>
                      <a:pt x="6350" y="12700"/>
                    </a:cubicBezTo>
                    <a:cubicBezTo>
                      <a:pt x="9857" y="12700"/>
                      <a:pt x="12700" y="9857"/>
                      <a:pt x="12700" y="6350"/>
                    </a:cubicBezTo>
                    <a:cubicBezTo>
                      <a:pt x="12700" y="2843"/>
                      <a:pt x="9857" y="0"/>
                      <a:pt x="6350" y="0"/>
                    </a:cubicBezTo>
                    <a:cubicBezTo>
                      <a:pt x="2843" y="0"/>
                      <a:pt x="0" y="2843"/>
                      <a:pt x="0" y="635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5500" y="351155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88900"/>
                    </a:moveTo>
                    <a:cubicBezTo>
                      <a:pt x="0" y="137998"/>
                      <a:pt x="39802" y="177800"/>
                      <a:pt x="88900" y="177800"/>
                    </a:cubicBezTo>
                    <a:cubicBezTo>
                      <a:pt x="137998" y="177800"/>
                      <a:pt x="177800" y="137998"/>
                      <a:pt x="177800" y="88900"/>
                    </a:cubicBezTo>
                    <a:cubicBezTo>
                      <a:pt x="177800" y="39802"/>
                      <a:pt x="137998" y="0"/>
                      <a:pt x="88900" y="0"/>
                    </a:cubicBezTo>
                    <a:cubicBezTo>
                      <a:pt x="39802" y="0"/>
                      <a:pt x="0" y="39802"/>
                      <a:pt x="0" y="889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14400" y="34861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00100" y="36004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14400" y="368934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003299" y="36004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54380" y="3838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视线到文字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6285" y="412670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2 层 · 找词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3733800" y="3467100"/>
              <a:ext cx="7620000" cy="762000"/>
              <a:chOff x="3733800" y="3467100"/>
              <a:chExt cx="7620000" cy="7620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9067800" y="3467100"/>
                <a:ext cx="2286000" cy="762000"/>
              </a:xfrm>
              <a:prstGeom prst="roundRect">
                <a:avLst>
                  <a:gd name="adj" fmla="val 17500"/>
                </a:avLst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9749600" y="36452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焦点控制器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364518" y="3917156"/>
                <a:ext cx="169256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软焦点按段 · 硬焦点按词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6400800" y="3467100"/>
                <a:ext cx="2286000" cy="762000"/>
              </a:xfrm>
              <a:prstGeom prst="roundRect">
                <a:avLst>
                  <a:gd name="adj" fmla="val 17500"/>
                </a:avLst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082599" y="36452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关键词吸附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010375" y="391715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光环吸到术语上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3733800" y="3467100"/>
                <a:ext cx="2286000" cy="762000"/>
              </a:xfrm>
              <a:prstGeom prst="roundRect">
                <a:avLst>
                  <a:gd name="adj" fmla="val 175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4234283" y="3645218"/>
                <a:ext cx="12850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FocusContext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4267987" y="391715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「正在看的那段」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6048375" y="3848100"/>
              <a:ext cx="3000375" cy="1"/>
              <a:chOff x="6048375" y="3848100"/>
              <a:chExt cx="3000375" cy="1"/>
            </a:xfrm>
          </p:grpSpPr>
          <p:sp>
            <p:nvSpPr>
              <p:cNvPr id="63" name="Line 63"/>
              <p:cNvSpPr/>
              <p:nvPr/>
            </p:nvSpPr>
            <p:spPr>
              <a:xfrm flipH="1">
                <a:off x="8715375" y="3848100"/>
                <a:ext cx="333375" cy="1"/>
              </a:xfrm>
              <a:prstGeom prst="line">
                <a:avLst/>
              </a:prstGeom>
              <a:noFill/>
              <a:ln w="19050">
                <a:solidFill>
                  <a:srgbClr val="6E6E73"/>
                </a:solidFill>
                <a:tailEnd type="triangle" w="lg" len="lg"/>
              </a:ln>
            </p:spPr>
          </p:sp>
          <p:sp>
            <p:nvSpPr>
              <p:cNvPr id="64" name="Line 64"/>
              <p:cNvSpPr/>
              <p:nvPr/>
            </p:nvSpPr>
            <p:spPr>
              <a:xfrm flipH="1">
                <a:off x="6048375" y="3848100"/>
                <a:ext cx="333375" cy="1"/>
              </a:xfrm>
              <a:prstGeom prst="line">
                <a:avLst/>
              </a:prstGeom>
              <a:noFill/>
              <a:ln w="19050">
                <a:solidFill>
                  <a:srgbClr val="6E6E73"/>
                </a:solidFill>
                <a:tailEnd type="triangle" w="lg" len="lg"/>
              </a:ln>
            </p:spPr>
          </p:sp>
        </p:grpSp>
      </p:grpSp>
      <p:grpSp>
        <p:nvGrpSpPr>
          <p:cNvPr id="68" name="turn-2"/>
          <p:cNvGrpSpPr/>
          <p:nvPr/>
        </p:nvGrpSpPr>
        <p:grpSpPr>
          <a:xfrm>
            <a:off x="4876800" y="4248150"/>
            <a:ext cx="1" cy="457200"/>
            <a:chOff x="4876800" y="4248150"/>
            <a:chExt cx="1" cy="457200"/>
          </a:xfrm>
        </p:grpSpPr>
        <p:sp>
          <p:nvSpPr>
            <p:cNvPr id="67" name="Line 67"/>
            <p:cNvSpPr/>
            <p:nvPr/>
          </p:nvSpPr>
          <p:spPr>
            <a:xfrm>
              <a:off x="4876800" y="4248150"/>
              <a:ext cx="1" cy="457200"/>
            </a:xfrm>
            <a:prstGeom prst="line">
              <a:avLst/>
            </a:prstGeom>
            <a:noFill/>
            <a:ln w="19050">
              <a:solidFill>
                <a:srgbClr val="6E6E73"/>
              </a:solidFill>
              <a:tailEnd type="triangle" w="lg" len="lg"/>
            </a:ln>
          </p:spPr>
        </p:sp>
      </p:grpSp>
      <p:grpSp>
        <p:nvGrpSpPr>
          <p:cNvPr id="88" name="lane-decide"/>
          <p:cNvGrpSpPr/>
          <p:nvPr/>
        </p:nvGrpSpPr>
        <p:grpSpPr>
          <a:xfrm>
            <a:off x="609600" y="4838700"/>
            <a:ext cx="10972800" cy="1066800"/>
            <a:chOff x="609600" y="4838700"/>
            <a:chExt cx="10972800" cy="1066800"/>
          </a:xfrm>
        </p:grpSpPr>
        <p:sp>
          <p:nvSpPr>
            <p:cNvPr id="69" name="Rectangle 69"/>
            <p:cNvSpPr/>
            <p:nvPr/>
          </p:nvSpPr>
          <p:spPr>
            <a:xfrm>
              <a:off x="609600" y="4838700"/>
              <a:ext cx="10972800" cy="1066800"/>
            </a:xfrm>
            <a:prstGeom prst="roundRect">
              <a:avLst>
                <a:gd name="adj" fmla="val 17857"/>
              </a:avLst>
            </a:prstGeom>
            <a:solidFill>
              <a:schemeClr val="accent3">
                <a:alpha val="7000"/>
              </a:schemeClr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800100" y="5010150"/>
              <a:ext cx="228599" cy="228600"/>
              <a:chOff x="800100" y="5010150"/>
              <a:chExt cx="228599" cy="2286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14400" y="51371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25500" y="51371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77899" y="50863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14400" y="501015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00100" y="50863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25500" y="501015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754380" y="5362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56285" y="565070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3 层 · 何时开口</a:t>
              </a:r>
            </a:p>
          </p:txBody>
        </p:sp>
        <p:grpSp>
          <p:nvGrpSpPr>
            <p:cNvPr id="85" name="Group 85"/>
            <p:cNvGrpSpPr/>
            <p:nvPr/>
          </p:nvGrpSpPr>
          <p:grpSpPr>
            <a:xfrm>
              <a:off x="3733800" y="4991100"/>
              <a:ext cx="4953000" cy="762000"/>
              <a:chOff x="3733800" y="4991100"/>
              <a:chExt cx="4953000" cy="762000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3733800" y="4991100"/>
                <a:ext cx="2286000" cy="762000"/>
              </a:xfrm>
              <a:prstGeom prst="roundRect">
                <a:avLst>
                  <a:gd name="adj" fmla="val 17500"/>
                </a:avLst>
              </a:pr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4498641" y="5169218"/>
                <a:ext cx="7563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Jev 判断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4256679" y="5441156"/>
                <a:ext cx="12402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要不要插话 · 意图</a:t>
                </a:r>
              </a:p>
            </p:txBody>
          </p:sp>
          <p:sp>
            <p:nvSpPr>
              <p:cNvPr id="82" name="Rectangle 82"/>
              <p:cNvSpPr/>
              <p:nvPr/>
            </p:nvSpPr>
            <p:spPr>
              <a:xfrm>
                <a:off x="6400800" y="4991100"/>
                <a:ext cx="2286000" cy="762000"/>
              </a:xfrm>
              <a:prstGeom prst="roundRect">
                <a:avLst>
                  <a:gd name="adj" fmla="val 175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7264336" y="516921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大模型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7236536" y="544115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流式回答</a:t>
                </a:r>
              </a:p>
            </p:txBody>
          </p:sp>
        </p:grpSp>
        <p:sp>
          <p:nvSpPr>
            <p:cNvPr id="86" name="Line 86"/>
            <p:cNvSpPr/>
            <p:nvPr/>
          </p:nvSpPr>
          <p:spPr>
            <a:xfrm>
              <a:off x="6038850" y="5372100"/>
              <a:ext cx="333375" cy="1"/>
            </a:xfrm>
            <a:prstGeom prst="line">
              <a:avLst/>
            </a:prstGeom>
            <a:noFill/>
            <a:ln w="19050">
              <a:solidFill>
                <a:srgbClr val="6E6E73"/>
              </a:solidFill>
              <a:tailEnd type="triangle" w="lg" len="lg"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061704" y="5166360"/>
              <a:ext cx="17114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彩色描边 = 自研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无描边 = 引用或通用环节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89" name="Line 89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04266" y="632555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代码：src/renderer/src/gaze → focus → jev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595884" y="622935"/>
            <a:ext cx="7660386" cy="798004"/>
            <a:chOff x="595884" y="622935"/>
            <a:chExt cx="7660386" cy="798004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22935"/>
              <a:ext cx="7660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摄像头只能看清「哪一段」，所以每层都在补位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98232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不跟物理极限硬拼，而是让每一层弥补上一层的不足</a:t>
              </a:r>
            </a:p>
          </p:txBody>
        </p:sp>
      </p:grpSp>
      <p:grpSp>
        <p:nvGrpSpPr>
          <p:cNvPr id="33" name="error-sources"/>
          <p:cNvGrpSpPr/>
          <p:nvPr/>
        </p:nvGrpSpPr>
        <p:grpSpPr>
          <a:xfrm>
            <a:off x="609600" y="1562100"/>
            <a:ext cx="3810000" cy="4457700"/>
            <a:chOff x="609600" y="1562100"/>
            <a:chExt cx="3810000" cy="4457700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3810000" cy="44577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9818" y="17840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误差从哪来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71538" y="2243138"/>
              <a:ext cx="200025" cy="200025"/>
              <a:chOff x="871538" y="2243138"/>
              <a:chExt cx="200025" cy="20002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15988" y="2291292"/>
                <a:ext cx="111125" cy="51858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51858">
                    <a:moveTo>
                      <a:pt x="0" y="51858"/>
                    </a:moveTo>
                    <a:cubicBezTo>
                      <a:pt x="37042" y="0"/>
                      <a:pt x="74084" y="0"/>
                      <a:pt x="111125" y="51858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15988" y="2343150"/>
                <a:ext cx="111125" cy="51858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51858">
                    <a:moveTo>
                      <a:pt x="0" y="0"/>
                    </a:moveTo>
                    <a:cubicBezTo>
                      <a:pt x="37042" y="51858"/>
                      <a:pt x="74084" y="51858"/>
                      <a:pt x="111125" y="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71439" y="2343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111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71538" y="22431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44450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71538" y="239871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0" y="22225"/>
                    </a:lnTo>
                    <a:cubicBezTo>
                      <a:pt x="0" y="34500"/>
                      <a:pt x="9950" y="44450"/>
                      <a:pt x="22225" y="44450"/>
                    </a:cubicBezTo>
                    <a:lnTo>
                      <a:pt x="4445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27113" y="22431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22225" y="0"/>
                    </a:lnTo>
                    <a:cubicBezTo>
                      <a:pt x="34500" y="0"/>
                      <a:pt x="44450" y="9950"/>
                      <a:pt x="44450" y="22225"/>
                    </a:cubicBezTo>
                    <a:lnTo>
                      <a:pt x="4445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27113" y="239871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44450"/>
                    </a:moveTo>
                    <a:lnTo>
                      <a:pt x="22225" y="44450"/>
                    </a:lnTo>
                    <a:cubicBezTo>
                      <a:pt x="34500" y="44450"/>
                      <a:pt x="44450" y="34500"/>
                      <a:pt x="44450" y="22225"/>
                    </a:cubicBez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231392" y="2254568"/>
              <a:ext cx="24140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眼睛在画面里只占几十个像素，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虹膜的位移非常小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882650" y="3092450"/>
              <a:ext cx="177801" cy="177801"/>
              <a:chOff x="882650" y="3092450"/>
              <a:chExt cx="177801" cy="17780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82650" y="30924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44450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82650" y="322580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0" y="22225"/>
                    </a:lnTo>
                    <a:cubicBezTo>
                      <a:pt x="0" y="34500"/>
                      <a:pt x="9950" y="44450"/>
                      <a:pt x="22225" y="44450"/>
                    </a:cubicBezTo>
                    <a:lnTo>
                      <a:pt x="4445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16001" y="30924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22225" y="0"/>
                    </a:lnTo>
                    <a:cubicBezTo>
                      <a:pt x="34500" y="0"/>
                      <a:pt x="44450" y="9950"/>
                      <a:pt x="44450" y="22225"/>
                    </a:cubicBezTo>
                    <a:lnTo>
                      <a:pt x="4445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16001" y="322580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44450"/>
                    </a:moveTo>
                    <a:lnTo>
                      <a:pt x="22225" y="44450"/>
                    </a:lnTo>
                    <a:cubicBezTo>
                      <a:pt x="34500" y="44450"/>
                      <a:pt x="44450" y="34500"/>
                      <a:pt x="44450" y="22225"/>
                    </a:cubicBez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38213" y="31591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04888" y="31591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43769" y="3214688"/>
                <a:ext cx="55563" cy="11674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11674">
                    <a:moveTo>
                      <a:pt x="0" y="0"/>
                    </a:moveTo>
                    <a:cubicBezTo>
                      <a:pt x="7316" y="7466"/>
                      <a:pt x="17328" y="11674"/>
                      <a:pt x="27781" y="11674"/>
                    </a:cubicBezTo>
                    <a:cubicBezTo>
                      <a:pt x="38234" y="11674"/>
                      <a:pt x="48247" y="7466"/>
                      <a:pt x="55563" y="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231392" y="3092768"/>
              <a:ext cx="1899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头一动，同样的眼球转角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就对应不同的屏幕位置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71538" y="3930650"/>
              <a:ext cx="188913" cy="177801"/>
            </a:xfrm>
            <a:custGeom>
              <a:avLst/>
              <a:gdLst/>
              <a:ahLst/>
              <a:cxnLst/>
              <a:rect l="l" t="t" r="r" b="b"/>
              <a:pathLst>
                <a:path w="188913" h="177801">
                  <a:moveTo>
                    <a:pt x="144463" y="155575"/>
                  </a:moveTo>
                  <a:cubicBezTo>
                    <a:pt x="156737" y="155575"/>
                    <a:pt x="166688" y="165526"/>
                    <a:pt x="166688" y="177801"/>
                  </a:cubicBezTo>
                  <a:cubicBezTo>
                    <a:pt x="166688" y="165526"/>
                    <a:pt x="176638" y="155575"/>
                    <a:pt x="188913" y="155575"/>
                  </a:cubicBezTo>
                  <a:cubicBezTo>
                    <a:pt x="176638" y="155575"/>
                    <a:pt x="166688" y="145625"/>
                    <a:pt x="166688" y="133350"/>
                  </a:cubicBezTo>
                  <a:cubicBezTo>
                    <a:pt x="166688" y="145625"/>
                    <a:pt x="156737" y="155575"/>
                    <a:pt x="144463" y="155575"/>
                  </a:cubicBezTo>
                  <a:moveTo>
                    <a:pt x="144463" y="22225"/>
                  </a:moveTo>
                  <a:cubicBezTo>
                    <a:pt x="156737" y="22225"/>
                    <a:pt x="166688" y="32176"/>
                    <a:pt x="166688" y="44450"/>
                  </a:cubicBezTo>
                  <a:cubicBezTo>
                    <a:pt x="166688" y="32176"/>
                    <a:pt x="176638" y="22225"/>
                    <a:pt x="188913" y="22225"/>
                  </a:cubicBezTo>
                  <a:cubicBezTo>
                    <a:pt x="176638" y="22225"/>
                    <a:pt x="166688" y="12275"/>
                    <a:pt x="166688" y="0"/>
                  </a:cubicBezTo>
                  <a:cubicBezTo>
                    <a:pt x="166688" y="12275"/>
                    <a:pt x="156737" y="22225"/>
                    <a:pt x="144463" y="22225"/>
                  </a:cubicBezTo>
                  <a:moveTo>
                    <a:pt x="66675" y="155575"/>
                  </a:moveTo>
                  <a:cubicBezTo>
                    <a:pt x="66675" y="118752"/>
                    <a:pt x="96527" y="88900"/>
                    <a:pt x="133350" y="88900"/>
                  </a:cubicBezTo>
                  <a:cubicBezTo>
                    <a:pt x="96527" y="88900"/>
                    <a:pt x="66675" y="59049"/>
                    <a:pt x="66675" y="22225"/>
                  </a:cubicBezTo>
                  <a:cubicBezTo>
                    <a:pt x="66675" y="59049"/>
                    <a:pt x="36824" y="88900"/>
                    <a:pt x="0" y="88900"/>
                  </a:cubicBezTo>
                  <a:cubicBezTo>
                    <a:pt x="36824" y="88900"/>
                    <a:pt x="66675" y="118752"/>
                    <a:pt x="66675" y="155575"/>
                  </a:cubicBezTo>
                </a:path>
              </a:pathLst>
            </a:custGeom>
            <a:noFill/>
            <a:ln w="2222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31392" y="393096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光照、眨眼、眼镜反光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都会带来噪声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871538" y="4757738"/>
              <a:ext cx="200026" cy="200026"/>
              <a:chOff x="871538" y="4757738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71538" y="47577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71550" y="4802188"/>
                <a:ext cx="3333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88900">
                    <a:moveTo>
                      <a:pt x="0" y="0"/>
                    </a:moveTo>
                    <a:lnTo>
                      <a:pt x="0" y="55563"/>
                    </a:lnTo>
                    <a:lnTo>
                      <a:pt x="33338" y="8890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231392" y="4769168"/>
              <a:ext cx="22425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校准之后人会慢慢挪动姿势，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预测整体偏移（漂移）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38200" y="54864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0580" y="56483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结果：精度只到「段落级」</a:t>
              </a:r>
            </a:p>
          </p:txBody>
        </p:sp>
      </p:grpSp>
      <p:grpSp>
        <p:nvGrpSpPr>
          <p:cNvPr id="78" name="layer-ladder"/>
          <p:cNvGrpSpPr/>
          <p:nvPr/>
        </p:nvGrpSpPr>
        <p:grpSpPr>
          <a:xfrm>
            <a:off x="4792218" y="1784032"/>
            <a:ext cx="5768721" cy="4096893"/>
            <a:chOff x="4792218" y="1784032"/>
            <a:chExt cx="5768721" cy="4096893"/>
          </a:xfrm>
        </p:grpSpPr>
        <p:sp>
          <p:nvSpPr>
            <p:cNvPr id="34" name="TextBox 34"/>
            <p:cNvSpPr txBox="1"/>
            <p:nvPr/>
          </p:nvSpPr>
          <p:spPr>
            <a:xfrm>
              <a:off x="4792218" y="1784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七层补位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5937885" y="2126456"/>
              <a:ext cx="2862428" cy="220028"/>
              <a:chOff x="5937885" y="2126456"/>
              <a:chExt cx="2862428" cy="220028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5937885" y="2126456"/>
                <a:ext cx="3129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算法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85785" y="2126456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弥补什么</a:t>
                </a:r>
              </a:p>
            </p:txBody>
          </p:sp>
        </p:grpSp>
        <p:sp>
          <p:nvSpPr>
            <p:cNvPr id="38" name="Line 38"/>
            <p:cNvSpPr/>
            <p:nvPr/>
          </p:nvSpPr>
          <p:spPr>
            <a:xfrm>
              <a:off x="4991100" y="257175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4933950" y="2514600"/>
              <a:ext cx="114300" cy="3238500"/>
              <a:chOff x="4933950" y="2514600"/>
              <a:chExt cx="114300" cy="3238500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4933950" y="251460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4933950" y="3038475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933950" y="35623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4933950" y="4086225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4933950" y="461010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4933950" y="5133975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4933950" y="563880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5181600" y="2428875"/>
              <a:ext cx="571500" cy="3429381"/>
              <a:chOff x="5181600" y="2428875"/>
              <a:chExt cx="571500" cy="3429381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5181600" y="2428875"/>
                <a:ext cx="571500" cy="28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5299710" y="24993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估计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5181600" y="2952750"/>
                <a:ext cx="571500" cy="28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5299710" y="3023235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校正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5181600" y="3476625"/>
                <a:ext cx="571500" cy="28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5299710" y="354711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平滑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5181600" y="4000500"/>
                <a:ext cx="571500" cy="28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5299710" y="4070985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事件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5181600" y="4524375"/>
                <a:ext cx="571500" cy="28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5299710" y="45948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语义</a:t>
                </a:r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5181600" y="5048250"/>
                <a:ext cx="571500" cy="28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5299710" y="5118735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交互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5181600" y="5553075"/>
                <a:ext cx="571500" cy="285750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5299710" y="56235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决策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5936742" y="2492692"/>
              <a:ext cx="1278871" cy="3388233"/>
              <a:chOff x="5936742" y="2492692"/>
              <a:chExt cx="1278871" cy="3388233"/>
            </a:xfrm>
          </p:grpSpPr>
          <p:sp>
            <p:nvSpPr>
              <p:cNvPr id="62" name="TextBox 62"/>
              <p:cNvSpPr txBox="1"/>
              <p:nvPr/>
            </p:nvSpPr>
            <p:spPr>
              <a:xfrm>
                <a:off x="5936742" y="2492692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对偶岭回归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5936742" y="30165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残差核回归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5936742" y="3540442"/>
                <a:ext cx="12788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One Euro 滤波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5936742" y="4064318"/>
                <a:ext cx="11943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I-DT 注视检测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5936742" y="4588192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关键词吸附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5936742" y="51120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两级焦点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5936742" y="5616892"/>
                <a:ext cx="11197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Jev 级联判断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8184642" y="2492692"/>
              <a:ext cx="2376297" cy="3388233"/>
              <a:chOff x="8184642" y="2492692"/>
              <a:chExt cx="2376297" cy="3388233"/>
            </a:xfrm>
          </p:grpSpPr>
          <p:sp>
            <p:nvSpPr>
              <p:cNvPr id="70" name="TextBox 70"/>
              <p:cNvSpPr txBox="1"/>
              <p:nvPr/>
            </p:nvSpPr>
            <p:spPr>
              <a:xfrm>
                <a:off x="8184642" y="2492692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把特征映射成个性化屏幕坐标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184642" y="30165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校准之后的漂移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184642" y="3540442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帧与帧之间的抖动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184642" y="406431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切出「盯住了」的事件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184642" y="4588192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落点到术语的最后一段距离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184642" y="511206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眼动做不到的词级精度交给手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8184642" y="5616892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什么时候帮忙、怎么回答</a:t>
                </a:r>
              </a:p>
            </p:txBody>
          </p:sp>
        </p:grpSp>
      </p:grpSp>
      <p:grpSp>
        <p:nvGrpSpPr>
          <p:cNvPr id="82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79" name="Line 79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04266" y="6325552"/>
              <a:ext cx="1240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对应论文 §1.2–1.3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chain-rail"/>
          <p:cNvGrpSpPr/>
          <p:nvPr/>
        </p:nvGrpSpPr>
        <p:grpSpPr>
          <a:xfrm>
            <a:off x="504825" y="123825"/>
            <a:ext cx="11125200" cy="437864"/>
            <a:chOff x="504825" y="123825"/>
            <a:chExt cx="11125200" cy="437864"/>
          </a:xfrm>
        </p:grpSpPr>
        <p:sp>
          <p:nvSpPr>
            <p:cNvPr id="2" name="Line 2"/>
            <p:cNvSpPr/>
            <p:nvPr/>
          </p:nvSpPr>
          <p:spPr>
            <a:xfrm>
              <a:off x="609600" y="228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504825" y="123825"/>
              <a:ext cx="209550" cy="20955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552450" y="171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390775" y="180975"/>
              <a:ext cx="9239250" cy="95250"/>
              <a:chOff x="2390775" y="180975"/>
              <a:chExt cx="9239250" cy="9525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23907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" name="Ellipse 6"/>
              <p:cNvSpPr/>
              <p:nvPr/>
            </p:nvSpPr>
            <p:spPr>
              <a:xfrm>
                <a:off x="42195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60483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8771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97059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15347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604647" y="370999"/>
              <a:ext cx="10982706" cy="190690"/>
              <a:chOff x="604647" y="370999"/>
              <a:chExt cx="10982706" cy="19069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604647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特征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3015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回归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303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校正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9591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平滑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7879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注视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08933" y="370999"/>
                <a:ext cx="6893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焦点 · 吸附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313592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决策</a:t>
                </a:r>
              </a:p>
            </p:txBody>
          </p:sp>
        </p:grpSp>
      </p:grpSp>
      <p:grpSp>
        <p:nvGrpSpPr>
          <p:cNvPr id="23" name="header"/>
          <p:cNvGrpSpPr/>
          <p:nvPr/>
        </p:nvGrpSpPr>
        <p:grpSpPr>
          <a:xfrm>
            <a:off x="595884" y="699135"/>
            <a:ext cx="6184682" cy="778954"/>
            <a:chOff x="595884" y="699135"/>
            <a:chExt cx="6184682" cy="778954"/>
          </a:xfrm>
        </p:grpSpPr>
        <p:sp>
          <p:nvSpPr>
            <p:cNvPr id="21" name="TextBox 21"/>
            <p:cNvSpPr txBox="1"/>
            <p:nvPr/>
          </p:nvSpPr>
          <p:spPr>
            <a:xfrm>
              <a:off x="595884" y="699135"/>
              <a:ext cx="61846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第一步：把一张脸变成约 1650 个数字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1218" y="1155382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这一层用现成的模型和特征库，是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引用</a:t>
              </a: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，不是自研</a:t>
              </a:r>
            </a:p>
          </p:txBody>
        </p:sp>
      </p:grpSp>
      <p:grpSp>
        <p:nvGrpSpPr>
          <p:cNvPr id="30" name="step-frame"/>
          <p:cNvGrpSpPr/>
          <p:nvPr/>
        </p:nvGrpSpPr>
        <p:grpSpPr>
          <a:xfrm>
            <a:off x="609600" y="1600200"/>
            <a:ext cx="2667000" cy="2857500"/>
            <a:chOff x="609600" y="1600200"/>
            <a:chExt cx="2667000" cy="2857500"/>
          </a:xfrm>
        </p:grpSpPr>
        <p:sp>
          <p:nvSpPr>
            <p:cNvPr id="24" name="Rectangle 24"/>
            <p:cNvSpPr/>
            <p:nvPr/>
          </p:nvSpPr>
          <p:spPr>
            <a:xfrm>
              <a:off x="609600" y="1600200"/>
              <a:ext cx="2667000" cy="28575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81062" y="1885950"/>
              <a:ext cx="257175" cy="228600"/>
              <a:chOff x="881062" y="1885950"/>
              <a:chExt cx="257175" cy="2286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81062" y="1885950"/>
                <a:ext cx="25717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8600">
                    <a:moveTo>
                      <a:pt x="28575" y="42862"/>
                    </a:moveTo>
                    <a:lnTo>
                      <a:pt x="42862" y="42862"/>
                    </a:lnTo>
                    <a:cubicBezTo>
                      <a:pt x="58644" y="42862"/>
                      <a:pt x="71438" y="30069"/>
                      <a:pt x="71438" y="14288"/>
                    </a:cubicBezTo>
                    <a:cubicBezTo>
                      <a:pt x="71438" y="6397"/>
                      <a:pt x="77834" y="0"/>
                      <a:pt x="85725" y="0"/>
                    </a:cubicBezTo>
                    <a:lnTo>
                      <a:pt x="171450" y="0"/>
                    </a:lnTo>
                    <a:cubicBezTo>
                      <a:pt x="179341" y="0"/>
                      <a:pt x="185738" y="6397"/>
                      <a:pt x="185738" y="14288"/>
                    </a:cubicBezTo>
                    <a:cubicBezTo>
                      <a:pt x="185738" y="30069"/>
                      <a:pt x="198531" y="42862"/>
                      <a:pt x="214312" y="42862"/>
                    </a:cubicBezTo>
                    <a:lnTo>
                      <a:pt x="228600" y="42862"/>
                    </a:lnTo>
                    <a:cubicBezTo>
                      <a:pt x="244382" y="42862"/>
                      <a:pt x="257175" y="55656"/>
                      <a:pt x="257175" y="71438"/>
                    </a:cubicBezTo>
                    <a:lnTo>
                      <a:pt x="257175" y="200025"/>
                    </a:lnTo>
                    <a:cubicBezTo>
                      <a:pt x="257175" y="215807"/>
                      <a:pt x="244382" y="228600"/>
                      <a:pt x="228600" y="228600"/>
                    </a:cubicBez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71438"/>
                    </a:lnTo>
                    <a:cubicBezTo>
                      <a:pt x="0" y="55656"/>
                      <a:pt x="12793" y="42862"/>
                      <a:pt x="28575" y="42862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66788" y="197167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829818" y="2317432"/>
              <a:ext cx="13256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摄像头画面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342" y="2711768"/>
              <a:ext cx="138531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每帧 1280×720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约 30 帧 / 秒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笔记本自带摄像头</a:t>
              </a:r>
            </a:p>
          </p:txBody>
        </p:sp>
      </p:grpSp>
      <p:grpSp>
        <p:nvGrpSpPr>
          <p:cNvPr id="45" name="step-mediapipe"/>
          <p:cNvGrpSpPr/>
          <p:nvPr/>
        </p:nvGrpSpPr>
        <p:grpSpPr>
          <a:xfrm>
            <a:off x="3657600" y="1600200"/>
            <a:ext cx="3810000" cy="2857500"/>
            <a:chOff x="3657600" y="1600200"/>
            <a:chExt cx="3810000" cy="2857500"/>
          </a:xfrm>
        </p:grpSpPr>
        <p:sp>
          <p:nvSpPr>
            <p:cNvPr id="31" name="Rectangle 31"/>
            <p:cNvSpPr/>
            <p:nvPr/>
          </p:nvSpPr>
          <p:spPr>
            <a:xfrm>
              <a:off x="3657600" y="1600200"/>
              <a:ext cx="3810000" cy="2857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3943350" y="1885950"/>
              <a:ext cx="228600" cy="228600"/>
              <a:chOff x="3943350" y="1885950"/>
              <a:chExt cx="228600" cy="228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3943350" y="18859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943350" y="20574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0" y="28575"/>
                    </a:lnTo>
                    <a:cubicBezTo>
                      <a:pt x="0" y="44357"/>
                      <a:pt x="12793" y="57150"/>
                      <a:pt x="28575" y="57150"/>
                    </a:cubicBezTo>
                    <a:lnTo>
                      <a:pt x="57150" y="5715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114800" y="18859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28575" y="0"/>
                    </a:lnTo>
                    <a:cubicBezTo>
                      <a:pt x="44357" y="0"/>
                      <a:pt x="57150" y="12793"/>
                      <a:pt x="57150" y="28575"/>
                    </a:cubicBezTo>
                    <a:lnTo>
                      <a:pt x="57150" y="5715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4114800" y="20574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28575" y="57150"/>
                    </a:lnTo>
                    <a:cubicBezTo>
                      <a:pt x="44357" y="57150"/>
                      <a:pt x="57150" y="44357"/>
                      <a:pt x="57150" y="28575"/>
                    </a:cubicBez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014788" y="19716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100512" y="19716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021931" y="2043112"/>
                <a:ext cx="71438" cy="1500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5009">
                    <a:moveTo>
                      <a:pt x="0" y="0"/>
                    </a:moveTo>
                    <a:cubicBezTo>
                      <a:pt x="9406" y="9600"/>
                      <a:pt x="22279" y="15009"/>
                      <a:pt x="35719" y="15009"/>
                    </a:cubicBezTo>
                    <a:cubicBezTo>
                      <a:pt x="49158" y="15009"/>
                      <a:pt x="62032" y="9600"/>
                      <a:pt x="71438" y="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3877818" y="2317432"/>
              <a:ext cx="24971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MediaPipe 人脸关键点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79342" y="2711768"/>
              <a:ext cx="239687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478 个 3D 关键点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，其中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468 / 473 是右 / 左眼虹膜中心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79342" y="3378518"/>
              <a:ext cx="2908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52 个表情系数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（如 eyeBlinkLeft）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79342" y="370236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头部姿态矩阵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（平移 + 旋转）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80104" y="4061460"/>
              <a:ext cx="1699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GPU 推理 · VIDEO 模式</a:t>
              </a:r>
            </a:p>
          </p:txBody>
        </p:sp>
      </p:grpSp>
      <p:grpSp>
        <p:nvGrpSpPr>
          <p:cNvPr id="61" name="step-feature"/>
          <p:cNvGrpSpPr/>
          <p:nvPr/>
        </p:nvGrpSpPr>
        <p:grpSpPr>
          <a:xfrm>
            <a:off x="7848600" y="1600200"/>
            <a:ext cx="3733800" cy="2857500"/>
            <a:chOff x="7848600" y="1600200"/>
            <a:chExt cx="3733800" cy="2857500"/>
          </a:xfrm>
        </p:grpSpPr>
        <p:sp>
          <p:nvSpPr>
            <p:cNvPr id="46" name="Rectangle 46"/>
            <p:cNvSpPr/>
            <p:nvPr/>
          </p:nvSpPr>
          <p:spPr>
            <a:xfrm>
              <a:off x="7848600" y="1600200"/>
              <a:ext cx="3733800" cy="28575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8134350" y="1885950"/>
              <a:ext cx="228600" cy="228600"/>
              <a:chOff x="8134350" y="1885950"/>
              <a:chExt cx="228600" cy="2286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134350" y="188595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34362" y="188595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34375" y="188595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34350" y="19859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34362" y="19859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34375" y="19859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134350" y="2085975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34362" y="2085975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34375" y="2085975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8068818" y="2317432"/>
              <a:ext cx="20310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RealEye 组合特征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70342" y="2711768"/>
              <a:ext cx="2096833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双眼裁成 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40×20 灰度块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关键点几何 + 表情 + 姿态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58150" y="3547110"/>
              <a:ext cx="241421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≈1650 维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71104" y="415671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每帧一个特征向量 x</a:t>
              </a:r>
            </a:p>
          </p:txBody>
        </p:sp>
      </p:grpSp>
      <p:grpSp>
        <p:nvGrpSpPr>
          <p:cNvPr id="63" name="arrow-1"/>
          <p:cNvGrpSpPr/>
          <p:nvPr/>
        </p:nvGrpSpPr>
        <p:grpSpPr>
          <a:xfrm>
            <a:off x="3314700" y="2971800"/>
            <a:ext cx="285750" cy="1"/>
            <a:chOff x="3314700" y="2971800"/>
            <a:chExt cx="285750" cy="1"/>
          </a:xfrm>
        </p:grpSpPr>
        <p:sp>
          <p:nvSpPr>
            <p:cNvPr id="62" name="Line 62"/>
            <p:cNvSpPr/>
            <p:nvPr/>
          </p:nvSpPr>
          <p:spPr>
            <a:xfrm>
              <a:off x="3314700" y="2971800"/>
              <a:ext cx="285750" cy="1"/>
            </a:xfrm>
            <a:prstGeom prst="line">
              <a:avLst/>
            </a:prstGeom>
            <a:noFill/>
            <a:ln w="19050">
              <a:solidFill>
                <a:srgbClr val="6E6E73"/>
              </a:solidFill>
              <a:tailEnd type="triangle" w="lg" len="lg"/>
            </a:ln>
          </p:spPr>
        </p:sp>
      </p:grpSp>
      <p:grpSp>
        <p:nvGrpSpPr>
          <p:cNvPr id="65" name="arrow-2"/>
          <p:cNvGrpSpPr/>
          <p:nvPr/>
        </p:nvGrpSpPr>
        <p:grpSpPr>
          <a:xfrm>
            <a:off x="7505700" y="2971800"/>
            <a:ext cx="285750" cy="1"/>
            <a:chOff x="7505700" y="2971800"/>
            <a:chExt cx="285750" cy="1"/>
          </a:xfrm>
        </p:grpSpPr>
        <p:sp>
          <p:nvSpPr>
            <p:cNvPr id="64" name="Line 64"/>
            <p:cNvSpPr/>
            <p:nvPr/>
          </p:nvSpPr>
          <p:spPr>
            <a:xfrm>
              <a:off x="7505700" y="2971800"/>
              <a:ext cx="285750" cy="1"/>
            </a:xfrm>
            <a:prstGeom prst="line">
              <a:avLst/>
            </a:prstGeom>
            <a:noFill/>
            <a:ln w="19050">
              <a:solidFill>
                <a:srgbClr val="6E6E73"/>
              </a:solidFill>
              <a:tailEnd type="triangle" w="lg" len="lg"/>
            </a:ln>
          </p:spPr>
        </p:sp>
      </p:grpSp>
      <p:grpSp>
        <p:nvGrpSpPr>
          <p:cNvPr id="69" name="blink-note"/>
          <p:cNvGrpSpPr/>
          <p:nvPr/>
        </p:nvGrpSpPr>
        <p:grpSpPr>
          <a:xfrm>
            <a:off x="609600" y="4686300"/>
            <a:ext cx="5334000" cy="1295400"/>
            <a:chOff x="609600" y="4686300"/>
            <a:chExt cx="5334000" cy="1295400"/>
          </a:xfrm>
        </p:grpSpPr>
        <p:sp>
          <p:nvSpPr>
            <p:cNvPr id="66" name="Rectangle 66"/>
            <p:cNvSpPr/>
            <p:nvPr/>
          </p:nvSpPr>
          <p:spPr>
            <a:xfrm>
              <a:off x="609600" y="4686300"/>
              <a:ext cx="5334000" cy="1295400"/>
            </a:xfrm>
            <a:prstGeom prst="roundRect">
              <a:avLst>
                <a:gd name="adj" fmla="val 14706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0580" y="48863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眨眼帧直接丢掉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1342" y="5226368"/>
              <a:ext cx="384562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闭眼时眼部图像没有意义：blink &gt; 0.45 跳过，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保持上一次视线；校准采集更严，要求 blink &lt; 0.4</a:t>
              </a:r>
            </a:p>
          </p:txBody>
        </p:sp>
      </p:grpSp>
      <p:grpSp>
        <p:nvGrpSpPr>
          <p:cNvPr id="75" name="cited-note"/>
          <p:cNvGrpSpPr/>
          <p:nvPr/>
        </p:nvGrpSpPr>
        <p:grpSpPr>
          <a:xfrm>
            <a:off x="6248400" y="4686300"/>
            <a:ext cx="5334000" cy="1295400"/>
            <a:chOff x="6248400" y="4686300"/>
            <a:chExt cx="5334000" cy="1295400"/>
          </a:xfrm>
        </p:grpSpPr>
        <p:sp>
          <p:nvSpPr>
            <p:cNvPr id="70" name="Rectangle 70"/>
            <p:cNvSpPr/>
            <p:nvPr/>
          </p:nvSpPr>
          <p:spPr>
            <a:xfrm>
              <a:off x="6248400" y="4686300"/>
              <a:ext cx="5334000" cy="1295400"/>
            </a:xfrm>
            <a:prstGeom prst="roundRect">
              <a:avLst>
                <a:gd name="adj" fmla="val 147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77000" y="4857750"/>
              <a:ext cx="609600" cy="285750"/>
            </a:xfrm>
            <a:prstGeom prst="roundRect">
              <a:avLst>
                <a:gd name="adj" fmla="val 50000"/>
              </a:avLst>
            </a:prstGeom>
            <a:solidFill>
              <a:srgbClr val="8E8E93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14160" y="49282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232142" y="49120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这一层不是本项目的贡献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70142" y="5321618"/>
              <a:ext cx="339128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特征库 @realeye-io/webcam-eyetracker-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light-open 是 </a:t>
              </a:r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AGPL-3.0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，分发时要遵守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76" name="Line 76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04266" y="6325552"/>
              <a:ext cx="3671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代码：src/renderer/src/gaze/engine.ts → process()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chain-rail"/>
          <p:cNvGrpSpPr/>
          <p:nvPr/>
        </p:nvGrpSpPr>
        <p:grpSpPr>
          <a:xfrm>
            <a:off x="561975" y="123825"/>
            <a:ext cx="11068050" cy="437864"/>
            <a:chOff x="561975" y="123825"/>
            <a:chExt cx="11068050" cy="437864"/>
          </a:xfrm>
        </p:grpSpPr>
        <p:sp>
          <p:nvSpPr>
            <p:cNvPr id="2" name="Line 2"/>
            <p:cNvSpPr/>
            <p:nvPr/>
          </p:nvSpPr>
          <p:spPr>
            <a:xfrm>
              <a:off x="609600" y="228600"/>
              <a:ext cx="1828800" cy="9525"/>
            </a:xfrm>
            <a:custGeom>
              <a:avLst/>
              <a:gdLst/>
              <a:ahLst/>
              <a:cxnLst/>
              <a:rect l="l" t="t" r="r" b="b"/>
              <a:pathLst>
                <a:path w="1828800" h="9525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2438400" y="2286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5619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333625" y="123825"/>
              <a:ext cx="209550" cy="20955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381250" y="171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4219575" y="180975"/>
              <a:ext cx="7410450" cy="95250"/>
              <a:chOff x="4219575" y="180975"/>
              <a:chExt cx="7410450" cy="9525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42195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60483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8771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97059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15347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604647" y="370999"/>
              <a:ext cx="10982706" cy="190690"/>
              <a:chOff x="604647" y="370999"/>
              <a:chExt cx="10982706" cy="19069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604647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特征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3015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回归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1303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校正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9591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平滑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7879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注视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08933" y="370999"/>
                <a:ext cx="6893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焦点 · 吸附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313592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决策</a:t>
                </a:r>
              </a:p>
            </p:txBody>
          </p:sp>
        </p:grpSp>
      </p:grpSp>
      <p:grpSp>
        <p:nvGrpSpPr>
          <p:cNvPr id="24" name="header"/>
          <p:cNvGrpSpPr/>
          <p:nvPr/>
        </p:nvGrpSpPr>
        <p:grpSpPr>
          <a:xfrm>
            <a:off x="595884" y="699135"/>
            <a:ext cx="8882567" cy="778954"/>
            <a:chOff x="595884" y="699135"/>
            <a:chExt cx="8882567" cy="778954"/>
          </a:xfrm>
        </p:grpSpPr>
        <p:sp>
          <p:nvSpPr>
            <p:cNvPr id="22" name="TextBox 22"/>
            <p:cNvSpPr txBox="1"/>
            <p:nvPr/>
          </p:nvSpPr>
          <p:spPr>
            <a:xfrm>
              <a:off x="595884" y="699135"/>
              <a:ext cx="888256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校准：收集约 400 帧样本，训练一个带惩罚的线性映射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218" y="1155382"/>
              <a:ext cx="59795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岭回归 = 最小二乘拟合 + L2 惩罚，防止权重被噪声撑得过大</a:t>
              </a:r>
            </a:p>
          </p:txBody>
        </p:sp>
      </p:grpSp>
      <p:grpSp>
        <p:nvGrpSpPr>
          <p:cNvPr id="50" name="calib-screen"/>
          <p:cNvGrpSpPr/>
          <p:nvPr/>
        </p:nvGrpSpPr>
        <p:grpSpPr>
          <a:xfrm>
            <a:off x="601980" y="1600200"/>
            <a:ext cx="4198620" cy="4403884"/>
            <a:chOff x="601980" y="1600200"/>
            <a:chExt cx="4198620" cy="4403884"/>
          </a:xfrm>
        </p:grpSpPr>
        <p:sp>
          <p:nvSpPr>
            <p:cNvPr id="25" name="Rectangle 25"/>
            <p:cNvSpPr/>
            <p:nvPr/>
          </p:nvSpPr>
          <p:spPr>
            <a:xfrm>
              <a:off x="609600" y="1600200"/>
              <a:ext cx="4191000" cy="2590800"/>
            </a:xfrm>
            <a:prstGeom prst="roundRect">
              <a:avLst>
                <a:gd name="adj" fmla="val 73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14400" y="1866900"/>
              <a:ext cx="3581400" cy="2057400"/>
            </a:xfrm>
            <a:prstGeom prst="roundRect">
              <a:avLst>
                <a:gd name="adj" fmla="val 463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1171575" y="2085975"/>
              <a:ext cx="3067050" cy="1619250"/>
              <a:chOff x="1171575" y="2085975"/>
              <a:chExt cx="3067050" cy="161925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1171575" y="20859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2638425" y="20859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105275" y="20859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1171575" y="282892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638425" y="282892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4105275" y="282892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1171575" y="35718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2638425" y="35718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105275" y="35718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1905000" y="2419350"/>
              <a:ext cx="1600200" cy="952500"/>
              <a:chOff x="1905000" y="2419350"/>
              <a:chExt cx="1600200" cy="952500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1905000" y="2419350"/>
                <a:ext cx="95250" cy="95250"/>
              </a:xfrm>
              <a:prstGeom prst="ellipse">
                <a:avLst/>
              </a:prstGeom>
              <a:solidFill>
                <a:schemeClr val="accent2">
                  <a:alpha val="55000"/>
                </a:schemeClr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2657475" y="2419350"/>
                <a:ext cx="95250" cy="95250"/>
              </a:xfrm>
              <a:prstGeom prst="ellipse">
                <a:avLst/>
              </a:prstGeom>
              <a:solidFill>
                <a:schemeClr val="accent2">
                  <a:alpha val="55000"/>
                </a:schemeClr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3409950" y="2419350"/>
                <a:ext cx="95250" cy="95250"/>
              </a:xfrm>
              <a:prstGeom prst="ellipse">
                <a:avLst/>
              </a:prstGeom>
              <a:solidFill>
                <a:schemeClr val="accent2">
                  <a:alpha val="55000"/>
                </a:schemeClr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1905000" y="2847975"/>
                <a:ext cx="95250" cy="95250"/>
              </a:xfrm>
              <a:prstGeom prst="ellipse">
                <a:avLst/>
              </a:prstGeom>
              <a:solidFill>
                <a:schemeClr val="accent2">
                  <a:alpha val="55000"/>
                </a:schemeClr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3409950" y="2847975"/>
                <a:ext cx="95250" cy="95250"/>
              </a:xfrm>
              <a:prstGeom prst="ellipse">
                <a:avLst/>
              </a:prstGeom>
              <a:solidFill>
                <a:schemeClr val="accent2">
                  <a:alpha val="55000"/>
                </a:schemeClr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1905000" y="3276600"/>
                <a:ext cx="95250" cy="95250"/>
              </a:xfrm>
              <a:prstGeom prst="ellipse">
                <a:avLst/>
              </a:prstGeom>
              <a:solidFill>
                <a:schemeClr val="accent2">
                  <a:alpha val="55000"/>
                </a:schemeClr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2657475" y="3276600"/>
                <a:ext cx="95250" cy="95250"/>
              </a:xfrm>
              <a:prstGeom prst="ellipse">
                <a:avLst/>
              </a:prstGeom>
              <a:solidFill>
                <a:schemeClr val="accent2">
                  <a:alpha val="55000"/>
                </a:schemeClr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3409950" y="3276600"/>
                <a:ext cx="95250" cy="95250"/>
              </a:xfrm>
              <a:prstGeom prst="ellipse">
                <a:avLst/>
              </a:prstGeom>
              <a:solidFill>
                <a:schemeClr val="accent2">
                  <a:alpha val="55000"/>
                </a:schemeClr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01980" y="4391025"/>
              <a:ext cx="26585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 或 17 个点，每点盯 850ms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2742" y="4731068"/>
              <a:ext cx="236258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每一帧记一条样本：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（特征向量 x，目标点坐标 t）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2742" y="5474018"/>
              <a:ext cx="2750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共 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 ≈ 400 帧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，特征 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 ≈ 1650 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3885" y="5784056"/>
              <a:ext cx="2808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深蓝 = 9 点网格，浅青 = 17 点时加的内圈</a:t>
              </a:r>
            </a:p>
          </p:txBody>
        </p:sp>
      </p:grpSp>
      <p:grpSp>
        <p:nvGrpSpPr>
          <p:cNvPr id="54" name="card-objective"/>
          <p:cNvGrpSpPr/>
          <p:nvPr/>
        </p:nvGrpSpPr>
        <p:grpSpPr>
          <a:xfrm>
            <a:off x="5181600" y="1600200"/>
            <a:ext cx="6400800" cy="1371600"/>
            <a:chOff x="5181600" y="1600200"/>
            <a:chExt cx="6400800" cy="1371600"/>
          </a:xfrm>
        </p:grpSpPr>
        <p:sp>
          <p:nvSpPr>
            <p:cNvPr id="51" name="Rectangle 51"/>
            <p:cNvSpPr/>
            <p:nvPr/>
          </p:nvSpPr>
          <p:spPr>
            <a:xfrm>
              <a:off x="5181600" y="1600200"/>
              <a:ext cx="6400800" cy="1371600"/>
            </a:xfrm>
            <a:prstGeom prst="roundRect">
              <a:avLst>
                <a:gd name="adj" fmla="val 1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02580" y="1781175"/>
              <a:ext cx="28407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目标：拟合误差 + λ × 权重大小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formula-objective"/>
                <p:cNvSpPr txBox="1">
                  <a:spLocks noGrp="1"/>
                </p:cNvSpPr>
                <p:nvPr/>
              </p:nvSpPr>
              <p:spPr>
                <a:xfrm>
                  <a:off x="5410200" y="2114550"/>
                  <a:ext cx="5943600" cy="68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21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m:rPr>
                                    <m:sty m:val="bi"/>
                                  </m:rPr>
                                  <a:rPr lang="zh-CN" sz="21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β</m:t>
                                </m:r>
                              </m:lim>
                            </m:limLow>
                          </m:fName>
                          <m:e>
                            <m:r>
                              <a:rPr lang="zh-CN" sz="21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sSup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21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21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21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21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bi"/>
                                      </m:rPr>
                                      <a:rPr lang="zh-CN" sz="21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β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21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func>
                        <m:r>
                          <m:rPr>
                            <m:sty m:val="p"/>
                          </m:rPr>
                          <a:rPr lang="zh-CN" sz="21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21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sSup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21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bi"/>
                                  </m:rPr>
                                  <a:rPr lang="zh-CN" sz="21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β</m:t>
                                </m:r>
                              </m:e>
                            </m:d>
                          </m:e>
                          <m:sup>
                            <m:r>
                              <a:rPr lang="zh-CN" sz="21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8" name="card-predict"/>
          <p:cNvGrpSpPr/>
          <p:nvPr/>
        </p:nvGrpSpPr>
        <p:grpSpPr>
          <a:xfrm>
            <a:off x="5181600" y="3124200"/>
            <a:ext cx="6400800" cy="1371600"/>
            <a:chOff x="5181600" y="3124200"/>
            <a:chExt cx="6400800" cy="1371600"/>
          </a:xfrm>
        </p:grpSpPr>
        <p:sp>
          <p:nvSpPr>
            <p:cNvPr id="55" name="Rectangle 55"/>
            <p:cNvSpPr/>
            <p:nvPr/>
          </p:nvSpPr>
          <p:spPr>
            <a:xfrm>
              <a:off x="5181600" y="3124200"/>
              <a:ext cx="6400800" cy="1371600"/>
            </a:xfrm>
            <a:prstGeom prst="roundRect">
              <a:avLst>
                <a:gd name="adj" fmla="val 1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402580" y="3305175"/>
              <a:ext cx="2979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预测：屏幕 x、y 各有一套权重 β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formula-predict"/>
                <p:cNvSpPr txBox="1">
                  <a:spLocks noGrp="1"/>
                </p:cNvSpPr>
                <p:nvPr/>
              </p:nvSpPr>
              <p:spPr>
                <a:xfrm>
                  <a:off x="5410200" y="3638550"/>
                  <a:ext cx="5943600" cy="68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21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21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acc>
                          </m:e>
                          <m:sub>
                            <m:r>
                              <a:rPr lang="zh-CN" sz="21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21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acc>
                              <m:accPr>
                                <m:chr m:val="̅"/>
                                <m:ctrlPr>
                                  <a:rPr lang="zh-CN" sz="21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21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acc>
                          </m:e>
                          <m:sub>
                            <m:r>
                              <a:rPr lang="zh-CN" sz="21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21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21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b"/>
                                  </m:rPr>
                                  <a:rPr lang="zh-CN" sz="21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21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zh-CN" sz="21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21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21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⊤</m:t>
                            </m:r>
                          </m:sup>
                        </m:sSup>
                        <m:sSub>
                          <m:e>
                            <m:r>
                              <m:rPr>
                                <m:sty m:val="bi"/>
                              </m:rPr>
                              <a:rPr lang="zh-CN" sz="21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  <m:sub>
                            <m:r>
                              <a:rPr lang="zh-CN" sz="21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5" name="lambda-intuition"/>
          <p:cNvGrpSpPr/>
          <p:nvPr/>
        </p:nvGrpSpPr>
        <p:grpSpPr>
          <a:xfrm>
            <a:off x="5181600" y="4648200"/>
            <a:ext cx="6400800" cy="1333500"/>
            <a:chOff x="5181600" y="4648200"/>
            <a:chExt cx="6400800" cy="1333500"/>
          </a:xfrm>
        </p:grpSpPr>
        <p:sp>
          <p:nvSpPr>
            <p:cNvPr id="59" name="Rectangle 59"/>
            <p:cNvSpPr/>
            <p:nvPr/>
          </p:nvSpPr>
          <p:spPr>
            <a:xfrm>
              <a:off x="5181600" y="4648200"/>
              <a:ext cx="3124200" cy="1333500"/>
            </a:xfrm>
            <a:prstGeom prst="roundRect">
              <a:avLst>
                <a:gd name="adj" fmla="val 14286"/>
              </a:avLst>
            </a:prstGeom>
            <a:solidFill>
              <a:srgbClr val="FF9500">
                <a:alpha val="8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402580" y="4848225"/>
              <a:ext cx="14489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λ 太小 → 过拟合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03342" y="5207318"/>
              <a:ext cx="13853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把噪声也记住了，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换个位置就不准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458200" y="4648200"/>
              <a:ext cx="3124200" cy="1333500"/>
            </a:xfrm>
            <a:prstGeom prst="roundRect">
              <a:avLst>
                <a:gd name="adj" fmla="val 14286"/>
              </a:avLst>
            </a:prstGeom>
            <a:solidFill>
              <a:schemeClr val="accent1">
                <a:alpha val="7000"/>
              </a:scheme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679180" y="4848225"/>
              <a:ext cx="14489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λ 太大 → 欠拟合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79942" y="5207318"/>
              <a:ext cx="18996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权重被压得太狠，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预测都挤向屏幕平均位置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66" name="Line 66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4266" y="6325552"/>
              <a:ext cx="50871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代码：gaze/ridge.ts → fitRidge() / predictRidge() · gaze/Calibration.tsx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chain-rail"/>
          <p:cNvGrpSpPr/>
          <p:nvPr/>
        </p:nvGrpSpPr>
        <p:grpSpPr>
          <a:xfrm>
            <a:off x="561975" y="123825"/>
            <a:ext cx="11068050" cy="437864"/>
            <a:chOff x="561975" y="123825"/>
            <a:chExt cx="11068050" cy="437864"/>
          </a:xfrm>
        </p:grpSpPr>
        <p:sp>
          <p:nvSpPr>
            <p:cNvPr id="2" name="Line 2"/>
            <p:cNvSpPr/>
            <p:nvPr/>
          </p:nvSpPr>
          <p:spPr>
            <a:xfrm>
              <a:off x="609600" y="228600"/>
              <a:ext cx="1828800" cy="9525"/>
            </a:xfrm>
            <a:custGeom>
              <a:avLst/>
              <a:gdLst/>
              <a:ahLst/>
              <a:cxnLst/>
              <a:rect l="l" t="t" r="r" b="b"/>
              <a:pathLst>
                <a:path w="1828800" h="9525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2438400" y="2286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5619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333625" y="123825"/>
              <a:ext cx="209550" cy="20955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381250" y="171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4219575" y="180975"/>
              <a:ext cx="7410450" cy="95250"/>
              <a:chOff x="4219575" y="180975"/>
              <a:chExt cx="7410450" cy="9525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42195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60483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8771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97059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15347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604647" y="370999"/>
              <a:ext cx="10982706" cy="190690"/>
              <a:chOff x="604647" y="370999"/>
              <a:chExt cx="10982706" cy="19069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604647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特征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3015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回归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1303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校正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9591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平滑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7879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注视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08933" y="370999"/>
                <a:ext cx="6893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焦点 · 吸附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313592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决策</a:t>
                </a:r>
              </a:p>
            </p:txBody>
          </p:sp>
        </p:grpSp>
      </p:grpSp>
      <p:grpSp>
        <p:nvGrpSpPr>
          <p:cNvPr id="24" name="header"/>
          <p:cNvGrpSpPr/>
          <p:nvPr/>
        </p:nvGrpSpPr>
        <p:grpSpPr>
          <a:xfrm>
            <a:off x="595884" y="699135"/>
            <a:ext cx="7649299" cy="778954"/>
            <a:chOff x="595884" y="699135"/>
            <a:chExt cx="7649299" cy="778954"/>
          </a:xfrm>
        </p:grpSpPr>
        <p:sp>
          <p:nvSpPr>
            <p:cNvPr id="22" name="TextBox 22"/>
            <p:cNvSpPr txBox="1"/>
            <p:nvPr/>
          </p:nvSpPr>
          <p:spPr>
            <a:xfrm>
              <a:off x="595884" y="699135"/>
              <a:ext cx="58430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特征比样本多，就换到样本空间里算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218" y="1155382"/>
              <a:ext cx="76439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 ≈ 1650 ≫ N ≈ 400：对偶形式把 1650×1650 的方程换成 400×400，快约十倍</a:t>
              </a:r>
            </a:p>
          </p:txBody>
        </p:sp>
      </p:grpSp>
      <p:grpSp>
        <p:nvGrpSpPr>
          <p:cNvPr id="34" name="primal"/>
          <p:cNvGrpSpPr/>
          <p:nvPr/>
        </p:nvGrpSpPr>
        <p:grpSpPr>
          <a:xfrm>
            <a:off x="609600" y="1600200"/>
            <a:ext cx="5029200" cy="2895600"/>
            <a:chOff x="609600" y="1600200"/>
            <a:chExt cx="5029200" cy="2895600"/>
          </a:xfrm>
        </p:grpSpPr>
        <p:sp>
          <p:nvSpPr>
            <p:cNvPr id="25" name="Rectangle 25"/>
            <p:cNvSpPr/>
            <p:nvPr/>
          </p:nvSpPr>
          <p:spPr>
            <a:xfrm>
              <a:off x="609600" y="1600200"/>
              <a:ext cx="5029200" cy="2895600"/>
            </a:xfrm>
            <a:prstGeom prst="roundRect">
              <a:avLst>
                <a:gd name="adj" fmla="val 6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9818" y="1784032"/>
              <a:ext cx="250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原始形式 · 在特征空间算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-primal"/>
                <p:cNvSpPr txBox="1">
                  <a:spLocks noGrp="1"/>
                </p:cNvSpPr>
                <p:nvPr/>
              </p:nvSpPr>
              <p:spPr>
                <a:xfrm>
                  <a:off x="838200" y="2114550"/>
                  <a:ext cx="4572000" cy="609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bi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⊤</m:t>
                                    </m:r>
                                  </m:sup>
                                </m:sSup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⊤</m:t>
                            </m:r>
                          </m:sup>
                        </m:sSup>
                        <m:r>
                          <m:rPr>
                            <m:sty m:val="b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831342" y="2902268"/>
              <a:ext cx="2635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要解一个 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1650 × 1650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的方程组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104" y="3413760"/>
              <a:ext cx="14164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构造 XᵀX：O(Nd²)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7532" y="3678555"/>
              <a:ext cx="13274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≈1.1×10⁹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37154" y="3413760"/>
              <a:ext cx="14926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分解求解：O(d³/3)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32582" y="3678555"/>
              <a:ext cx="13274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≈1.5×10⁹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2104" y="41567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次浮点运算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5791200" y="2552700"/>
            <a:ext cx="609600" cy="533400"/>
          </a:xfrm>
          <a:prstGeom prst="mathEqual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37" name="same-label"/>
          <p:cNvGrpSpPr/>
          <p:nvPr/>
        </p:nvGrpSpPr>
        <p:grpSpPr>
          <a:xfrm>
            <a:off x="5805805" y="3269456"/>
            <a:ext cx="580390" cy="429578"/>
            <a:chOff x="5805805" y="3269456"/>
            <a:chExt cx="580390" cy="429578"/>
          </a:xfrm>
        </p:grpSpPr>
        <p:sp>
          <p:nvSpPr>
            <p:cNvPr id="36" name="TextBox 36"/>
            <p:cNvSpPr txBox="1"/>
            <p:nvPr/>
          </p:nvSpPr>
          <p:spPr>
            <a:xfrm>
              <a:off x="5805805" y="3269456"/>
              <a:ext cx="58039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</a:t>
              </a:r>
              <a:br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完全一样</a:t>
              </a:r>
            </a:p>
          </p:txBody>
        </p:sp>
      </p:grpSp>
      <p:grpSp>
        <p:nvGrpSpPr>
          <p:cNvPr id="47" name="dual"/>
          <p:cNvGrpSpPr/>
          <p:nvPr/>
        </p:nvGrpSpPr>
        <p:grpSpPr>
          <a:xfrm>
            <a:off x="6553200" y="1600200"/>
            <a:ext cx="5029200" cy="2895600"/>
            <a:chOff x="6553200" y="1600200"/>
            <a:chExt cx="5029200" cy="2895600"/>
          </a:xfrm>
        </p:grpSpPr>
        <p:sp>
          <p:nvSpPr>
            <p:cNvPr id="38" name="Rectangle 38"/>
            <p:cNvSpPr/>
            <p:nvPr/>
          </p:nvSpPr>
          <p:spPr>
            <a:xfrm>
              <a:off x="6553200" y="1600200"/>
              <a:ext cx="5029200" cy="2895600"/>
            </a:xfrm>
            <a:prstGeom prst="roundRect">
              <a:avLst>
                <a:gd name="adj" fmla="val 6579"/>
              </a:avLst>
            </a:prstGeom>
            <a:solidFill>
              <a:schemeClr val="accent1">
                <a:alpha val="6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73418" y="1784032"/>
              <a:ext cx="250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对偶形式 · 在样本空间算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-dual"/>
                <p:cNvSpPr txBox="1">
                  <a:spLocks noGrp="1"/>
                </p:cNvSpPr>
                <p:nvPr/>
              </p:nvSpPr>
              <p:spPr>
                <a:xfrm>
                  <a:off x="6781800" y="2114550"/>
                  <a:ext cx="4572000" cy="609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bi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b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⊤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sty m:val="bi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⊤</m:t>
                            </m:r>
                          </m:sup>
                        </m:sSup>
                        <m:r>
                          <m:rPr>
                            <m:sty m:val="bi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6774942" y="2902268"/>
              <a:ext cx="26075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只要解一个 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400 × 400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的方程组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75704" y="3413760"/>
              <a:ext cx="19010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构造核矩阵 XXᵀ：O(N²d)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71132" y="3678555"/>
              <a:ext cx="13274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≈2.6×10⁸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80754" y="3413760"/>
              <a:ext cx="1511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分解求解：O(N³/3)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76182" y="3678555"/>
              <a:ext cx="13274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≈2.1×10⁷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75704" y="41567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次浮点运算</a:t>
              </a:r>
            </a:p>
          </p:txBody>
        </p:sp>
      </p:grpSp>
      <p:grpSp>
        <p:nvGrpSpPr>
          <p:cNvPr id="51" name="cholesky"/>
          <p:cNvGrpSpPr/>
          <p:nvPr/>
        </p:nvGrpSpPr>
        <p:grpSpPr>
          <a:xfrm>
            <a:off x="609600" y="4686300"/>
            <a:ext cx="6781800" cy="1295400"/>
            <a:chOff x="609600" y="4686300"/>
            <a:chExt cx="6781800" cy="1295400"/>
          </a:xfrm>
        </p:grpSpPr>
        <p:sp>
          <p:nvSpPr>
            <p:cNvPr id="48" name="Rectangle 48"/>
            <p:cNvSpPr/>
            <p:nvPr/>
          </p:nvSpPr>
          <p:spPr>
            <a:xfrm>
              <a:off x="609600" y="4686300"/>
              <a:ext cx="6781800" cy="1295400"/>
            </a:xfrm>
            <a:prstGeom prst="roundRect">
              <a:avLst>
                <a:gd name="adj" fmla="val 147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30580" y="4886325"/>
              <a:ext cx="4398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怎么解：Cholesky 分解（手写，不依赖线代库）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1342" y="5245418"/>
              <a:ext cx="453999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+ λI 对称正定 → A = LLᵀ，前代 Lz = b，回代 Lᵀα = z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分解失败（浮点误差让矩阵「不够正定」）就把 λ × 10 重试</a:t>
              </a:r>
            </a:p>
          </p:txBody>
        </p:sp>
      </p:grpSp>
      <p:grpSp>
        <p:nvGrpSpPr>
          <p:cNvPr id="55" name="when-reverse"/>
          <p:cNvGrpSpPr/>
          <p:nvPr/>
        </p:nvGrpSpPr>
        <p:grpSpPr>
          <a:xfrm>
            <a:off x="7620000" y="4686300"/>
            <a:ext cx="3962400" cy="1295400"/>
            <a:chOff x="7620000" y="4686300"/>
            <a:chExt cx="3962400" cy="1295400"/>
          </a:xfrm>
        </p:grpSpPr>
        <p:sp>
          <p:nvSpPr>
            <p:cNvPr id="52" name="Rectangle 52"/>
            <p:cNvSpPr/>
            <p:nvPr/>
          </p:nvSpPr>
          <p:spPr>
            <a:xfrm>
              <a:off x="7620000" y="4686300"/>
              <a:ext cx="3962400" cy="1295400"/>
            </a:xfrm>
            <a:prstGeom prst="roundRect">
              <a:avLst>
                <a:gd name="adj" fmla="val 147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840980" y="4886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什么时候反过来？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41742" y="5245418"/>
              <a:ext cx="211397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样本比特征多（N ≫ d）时，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原始形式反而更快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56" name="Line 56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4266" y="6325552"/>
              <a:ext cx="4164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代码：gaze/ridge.ts → cholesky() / cholSolve() / subGram()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chain-rail"/>
          <p:cNvGrpSpPr/>
          <p:nvPr/>
        </p:nvGrpSpPr>
        <p:grpSpPr>
          <a:xfrm>
            <a:off x="561975" y="123825"/>
            <a:ext cx="11068050" cy="437864"/>
            <a:chOff x="561975" y="123825"/>
            <a:chExt cx="11068050" cy="437864"/>
          </a:xfrm>
        </p:grpSpPr>
        <p:sp>
          <p:nvSpPr>
            <p:cNvPr id="2" name="Line 2"/>
            <p:cNvSpPr/>
            <p:nvPr/>
          </p:nvSpPr>
          <p:spPr>
            <a:xfrm>
              <a:off x="609600" y="228600"/>
              <a:ext cx="1828800" cy="9525"/>
            </a:xfrm>
            <a:custGeom>
              <a:avLst/>
              <a:gdLst/>
              <a:ahLst/>
              <a:cxnLst/>
              <a:rect l="l" t="t" r="r" b="b"/>
              <a:pathLst>
                <a:path w="1828800" h="9525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2438400" y="2286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5619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333625" y="123825"/>
              <a:ext cx="209550" cy="20955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381250" y="171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4219575" y="180975"/>
              <a:ext cx="7410450" cy="95250"/>
              <a:chOff x="4219575" y="180975"/>
              <a:chExt cx="7410450" cy="9525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42195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60483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8771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97059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15347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604647" y="370999"/>
              <a:ext cx="10982706" cy="190690"/>
              <a:chOff x="604647" y="370999"/>
              <a:chExt cx="10982706" cy="19069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604647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特征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3015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回归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1303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校正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9591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平滑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7879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注视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08933" y="370999"/>
                <a:ext cx="6893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焦点 · 吸附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313592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决策</a:t>
                </a:r>
              </a:p>
            </p:txBody>
          </p:sp>
        </p:grpSp>
      </p:grpSp>
      <p:grpSp>
        <p:nvGrpSpPr>
          <p:cNvPr id="24" name="header"/>
          <p:cNvGrpSpPr/>
          <p:nvPr/>
        </p:nvGrpSpPr>
        <p:grpSpPr>
          <a:xfrm>
            <a:off x="595884" y="699135"/>
            <a:ext cx="6530891" cy="778954"/>
            <a:chOff x="595884" y="699135"/>
            <a:chExt cx="6530891" cy="778954"/>
          </a:xfrm>
        </p:grpSpPr>
        <p:sp>
          <p:nvSpPr>
            <p:cNvPr id="22" name="TextBox 22"/>
            <p:cNvSpPr txBox="1"/>
            <p:nvPr/>
          </p:nvSpPr>
          <p:spPr>
            <a:xfrm>
              <a:off x="595884" y="699135"/>
              <a:ext cx="653089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λ 怎么定：按校准点整组留出做交叉验证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218" y="1155382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自动选出正则强度，顺便得到一个不会偏乐观的精度报告</a:t>
              </a:r>
            </a:p>
          </p:txBody>
        </p:sp>
      </p:grpSp>
      <p:grpSp>
        <p:nvGrpSpPr>
          <p:cNvPr id="55" name="split-random"/>
          <p:cNvGrpSpPr/>
          <p:nvPr/>
        </p:nvGrpSpPr>
        <p:grpSpPr>
          <a:xfrm>
            <a:off x="609600" y="1600200"/>
            <a:ext cx="5257800" cy="1428750"/>
            <a:chOff x="609600" y="1600200"/>
            <a:chExt cx="5257800" cy="1428750"/>
          </a:xfrm>
        </p:grpSpPr>
        <p:sp>
          <p:nvSpPr>
            <p:cNvPr id="25" name="Rectangle 25"/>
            <p:cNvSpPr/>
            <p:nvPr/>
          </p:nvSpPr>
          <p:spPr>
            <a:xfrm>
              <a:off x="609600" y="1600200"/>
              <a:ext cx="5257800" cy="1428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0580" y="1762125"/>
              <a:ext cx="1906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✗ 随机留一帧当测试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895350" y="2114550"/>
              <a:ext cx="2857500" cy="285750"/>
              <a:chOff x="895350" y="2114550"/>
              <a:chExt cx="2857500" cy="28575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895350" y="21145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1066800" y="21145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1238250" y="21145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895350" y="22860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1066800" y="22860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1238250" y="22860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1695450" y="21145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1866900" y="21145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2038350" y="21145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1695450" y="22860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1866900" y="22860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2038350" y="22860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2495550" y="21145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2667000" y="21145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2495550" y="22860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2667000" y="22860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2838450" y="22860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3295650" y="21145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3467100" y="21145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3638550" y="21145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3295650" y="22860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3467100" y="22860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3638550" y="22860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</p:grpSp>
        <p:sp>
          <p:nvSpPr>
            <p:cNvPr id="51" name="Ellipse 51"/>
            <p:cNvSpPr/>
            <p:nvPr/>
          </p:nvSpPr>
          <p:spPr>
            <a:xfrm>
              <a:off x="2838450" y="21145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994785" y="210740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灰 = 训练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994785" y="231695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蓝 = 测试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1342" y="2673668"/>
              <a:ext cx="49478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同一个点的其它帧几乎一模一样，还在训练集里 → 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误差被低估</a:t>
              </a:r>
            </a:p>
          </p:txBody>
        </p:sp>
      </p:grpSp>
      <p:grpSp>
        <p:nvGrpSpPr>
          <p:cNvPr id="86" name="split-group"/>
          <p:cNvGrpSpPr/>
          <p:nvPr/>
        </p:nvGrpSpPr>
        <p:grpSpPr>
          <a:xfrm>
            <a:off x="609600" y="3181350"/>
            <a:ext cx="5257800" cy="1428750"/>
            <a:chOff x="609600" y="3181350"/>
            <a:chExt cx="5257800" cy="1428750"/>
          </a:xfrm>
        </p:grpSpPr>
        <p:sp>
          <p:nvSpPr>
            <p:cNvPr id="56" name="Rectangle 56"/>
            <p:cNvSpPr/>
            <p:nvPr/>
          </p:nvSpPr>
          <p:spPr>
            <a:xfrm>
              <a:off x="609600" y="3181350"/>
              <a:ext cx="5257800" cy="1428750"/>
            </a:xfrm>
            <a:prstGeom prst="roundRect">
              <a:avLst>
                <a:gd name="adj" fmla="val 13333"/>
              </a:avLst>
            </a:prstGeom>
            <a:solidFill>
              <a:schemeClr val="accent1">
                <a:alpha val="6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30580" y="3343275"/>
              <a:ext cx="31178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✓ 把一个校准点的所有帧整组留出</a:t>
              </a:r>
            </a:p>
          </p:txBody>
        </p:sp>
        <p:grpSp>
          <p:nvGrpSpPr>
            <p:cNvPr id="76" name="Group 76"/>
            <p:cNvGrpSpPr/>
            <p:nvPr/>
          </p:nvGrpSpPr>
          <p:grpSpPr>
            <a:xfrm>
              <a:off x="895350" y="3695700"/>
              <a:ext cx="2857500" cy="285750"/>
              <a:chOff x="895350" y="3695700"/>
              <a:chExt cx="2857500" cy="28575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895350" y="36957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1066800" y="36957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60" name="Ellipse 60"/>
              <p:cNvSpPr/>
              <p:nvPr/>
            </p:nvSpPr>
            <p:spPr>
              <a:xfrm>
                <a:off x="1238250" y="36957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895350" y="38671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1066800" y="38671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1238250" y="38671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1695450" y="36957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1866900" y="36957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66" name="Ellipse 66"/>
              <p:cNvSpPr/>
              <p:nvPr/>
            </p:nvSpPr>
            <p:spPr>
              <a:xfrm>
                <a:off x="2038350" y="36957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1695450" y="38671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1866900" y="38671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2038350" y="38671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70" name="Ellipse 70"/>
              <p:cNvSpPr/>
              <p:nvPr/>
            </p:nvSpPr>
            <p:spPr>
              <a:xfrm>
                <a:off x="3295650" y="36957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3467100" y="36957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3638550" y="369570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3295650" y="38671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3467100" y="38671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3638550" y="3867150"/>
                <a:ext cx="114300" cy="114300"/>
              </a:xfrm>
              <a:prstGeom prst="ellipse">
                <a:avLst/>
              </a:prstGeom>
              <a:solidFill>
                <a:srgbClr val="C7C7CC"/>
              </a:solidFill>
              <a:ln>
                <a:noFill/>
              </a:ln>
            </p:spPr>
          </p:sp>
        </p:grpSp>
        <p:grpSp>
          <p:nvGrpSpPr>
            <p:cNvPr id="83" name="Group 83"/>
            <p:cNvGrpSpPr/>
            <p:nvPr/>
          </p:nvGrpSpPr>
          <p:grpSpPr>
            <a:xfrm>
              <a:off x="2495550" y="3695700"/>
              <a:ext cx="457200" cy="285750"/>
              <a:chOff x="2495550" y="3695700"/>
              <a:chExt cx="457200" cy="285750"/>
            </a:xfrm>
          </p:grpSpPr>
          <p:sp>
            <p:nvSpPr>
              <p:cNvPr id="77" name="Ellipse 77"/>
              <p:cNvSpPr/>
              <p:nvPr/>
            </p:nvSpPr>
            <p:spPr>
              <a:xfrm>
                <a:off x="2495550" y="369570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8" name="Ellipse 78"/>
              <p:cNvSpPr/>
              <p:nvPr/>
            </p:nvSpPr>
            <p:spPr>
              <a:xfrm>
                <a:off x="2667000" y="369570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2838450" y="369570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0" name="Ellipse 80"/>
              <p:cNvSpPr/>
              <p:nvPr/>
            </p:nvSpPr>
            <p:spPr>
              <a:xfrm>
                <a:off x="2495550" y="38671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2667000" y="38671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2" name="Ellipse 82"/>
              <p:cNvSpPr/>
              <p:nvPr/>
            </p:nvSpPr>
            <p:spPr>
              <a:xfrm>
                <a:off x="2838450" y="38671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84" name="Rectangle 84"/>
            <p:cNvSpPr/>
            <p:nvPr/>
          </p:nvSpPr>
          <p:spPr>
            <a:xfrm>
              <a:off x="2438400" y="3638550"/>
              <a:ext cx="571500" cy="400050"/>
            </a:xfrm>
            <a:prstGeom prst="roundRect">
              <a:avLst>
                <a:gd name="adj" fmla="val 23810"/>
              </a:avLst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31342" y="42548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相当于预测一个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从没见过的位置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，误差才诚实</a:t>
              </a:r>
            </a:p>
          </p:txBody>
        </p:sp>
      </p:grpSp>
      <p:grpSp>
        <p:nvGrpSpPr>
          <p:cNvPr id="90" name="why-not-nn"/>
          <p:cNvGrpSpPr/>
          <p:nvPr/>
        </p:nvGrpSpPr>
        <p:grpSpPr>
          <a:xfrm>
            <a:off x="609600" y="4762500"/>
            <a:ext cx="5257800" cy="1219200"/>
            <a:chOff x="609600" y="4762500"/>
            <a:chExt cx="5257800" cy="1219200"/>
          </a:xfrm>
        </p:grpSpPr>
        <p:sp>
          <p:nvSpPr>
            <p:cNvPr id="87" name="Rectangle 87"/>
            <p:cNvSpPr/>
            <p:nvPr/>
          </p:nvSpPr>
          <p:spPr>
            <a:xfrm>
              <a:off x="609600" y="4762500"/>
              <a:ext cx="5257800" cy="12192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30580" y="49434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为什么不用神经网络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31342" y="5283518"/>
              <a:ext cx="430853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只有约 400 帧、却有 1650 维：小样本高维，容易过拟合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岭回归是闭式解，拟合 &lt; 1 秒；每帧预测只是一次点积</a:t>
              </a:r>
            </a:p>
          </p:txBody>
        </p:sp>
      </p:grpSp>
      <p:grpSp>
        <p:nvGrpSpPr>
          <p:cNvPr id="110" name="cv-steps"/>
          <p:cNvGrpSpPr/>
          <p:nvPr/>
        </p:nvGrpSpPr>
        <p:grpSpPr>
          <a:xfrm>
            <a:off x="6164580" y="1762125"/>
            <a:ext cx="5033353" cy="2737676"/>
            <a:chOff x="6164580" y="1762125"/>
            <a:chExt cx="5033353" cy="2737676"/>
          </a:xfrm>
        </p:grpSpPr>
        <p:sp>
          <p:nvSpPr>
            <p:cNvPr id="91" name="TextBox 91"/>
            <p:cNvSpPr txBox="1"/>
            <p:nvPr/>
          </p:nvSpPr>
          <p:spPr>
            <a:xfrm>
              <a:off x="61645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完整流程</a:t>
              </a:r>
            </a:p>
          </p:txBody>
        </p:sp>
        <p:sp>
          <p:nvSpPr>
            <p:cNvPr id="92" name="Line 92"/>
            <p:cNvSpPr/>
            <p:nvPr/>
          </p:nvSpPr>
          <p:spPr>
            <a:xfrm>
              <a:off x="6324600" y="226695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6200775" y="2143125"/>
              <a:ext cx="247650" cy="2327434"/>
              <a:chOff x="6200775" y="2143125"/>
              <a:chExt cx="247650" cy="2327434"/>
            </a:xfrm>
          </p:grpSpPr>
          <p:sp>
            <p:nvSpPr>
              <p:cNvPr id="93" name="Ellipse 93"/>
              <p:cNvSpPr/>
              <p:nvPr/>
            </p:nvSpPr>
            <p:spPr>
              <a:xfrm>
                <a:off x="6200775" y="2143125"/>
                <a:ext cx="247650" cy="2476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6275349" y="2193131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5" name="Ellipse 95"/>
              <p:cNvSpPr/>
              <p:nvPr/>
            </p:nvSpPr>
            <p:spPr>
              <a:xfrm>
                <a:off x="6200775" y="2657475"/>
                <a:ext cx="247650" cy="2476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6275349" y="2707481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97" name="Ellipse 97"/>
              <p:cNvSpPr/>
              <p:nvPr/>
            </p:nvSpPr>
            <p:spPr>
              <a:xfrm>
                <a:off x="6200775" y="3171825"/>
                <a:ext cx="247650" cy="2476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6275349" y="3221831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99" name="Ellipse 99"/>
              <p:cNvSpPr/>
              <p:nvPr/>
            </p:nvSpPr>
            <p:spPr>
              <a:xfrm>
                <a:off x="6200775" y="3686175"/>
                <a:ext cx="247650" cy="2476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6275349" y="3736181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101" name="Ellipse 101"/>
              <p:cNvSpPr/>
              <p:nvPr/>
            </p:nvSpPr>
            <p:spPr>
              <a:xfrm>
                <a:off x="6200775" y="4200525"/>
                <a:ext cx="247650" cy="247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6275349" y="4250531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6584442" y="2178368"/>
              <a:ext cx="4613491" cy="2321433"/>
              <a:chOff x="6584442" y="2178368"/>
              <a:chExt cx="4613491" cy="2321433"/>
            </a:xfrm>
          </p:grpSpPr>
          <p:sp>
            <p:nvSpPr>
              <p:cNvPr id="104" name="TextBox 104"/>
              <p:cNvSpPr txBox="1"/>
              <p:nvPr/>
            </p:nvSpPr>
            <p:spPr>
              <a:xfrm>
                <a:off x="6584442" y="2178368"/>
                <a:ext cx="46134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 个候选 λ：{3e-4, 3e-3, 3e-2, 3e-1} × diag(K) 均值</a:t>
                </a: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6584442" y="2692718"/>
                <a:ext cx="32577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每个 λ：轮流留出一个点，用其余点训练</a:t>
                </a: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6584442" y="3207068"/>
                <a:ext cx="32849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逐帧算欧氏误差再平均（贴近真实使用）</a:t>
                </a: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6584442" y="3721418"/>
                <a:ext cx="30759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选误差最小的 λ，用全部数据重新拟合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6584442" y="4235768"/>
                <a:ext cx="36833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cvErrorPx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展示给用户；少于 5 个点不做 CV</a:t>
                </a:r>
              </a:p>
            </p:txBody>
          </p:sp>
        </p:grpSp>
      </p:grpSp>
      <p:grpSp>
        <p:nvGrpSpPr>
          <p:cNvPr id="114" name="angle-card"/>
          <p:cNvGrpSpPr/>
          <p:nvPr/>
        </p:nvGrpSpPr>
        <p:grpSpPr>
          <a:xfrm>
            <a:off x="6172200" y="4762500"/>
            <a:ext cx="5410200" cy="1219200"/>
            <a:chOff x="6172200" y="4762500"/>
            <a:chExt cx="5410200" cy="1219200"/>
          </a:xfrm>
        </p:grpSpPr>
        <p:sp>
          <p:nvSpPr>
            <p:cNvPr id="111" name="Rectangle 111"/>
            <p:cNvSpPr/>
            <p:nvPr/>
          </p:nvSpPr>
          <p:spPr>
            <a:xfrm>
              <a:off x="6172200" y="4762500"/>
              <a:ext cx="5410200" cy="12192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6393942" y="4940618"/>
              <a:ext cx="40546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像素误差 → 视角（1pt ≈ 0.023cm，眼屏 55cm）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formula-angle"/>
                <p:cNvSpPr txBox="1">
                  <a:spLocks noGrp="1"/>
                </p:cNvSpPr>
                <p:nvPr/>
              </p:nvSpPr>
              <p:spPr>
                <a:xfrm>
                  <a:off x="6400800" y="5200650"/>
                  <a:ext cx="4953000" cy="68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arctan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 m:val="on"/>
                                      </m:rP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×</m:t>
                                    </m:r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0.023</m:t>
                                    </m:r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m:rPr>
                                        <m:nor m:val="on"/>
                                      </m:rP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cm</m:t>
                                    </m:r>
                                  </m:num>
                                  <m:den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55</m:t>
                                    </m:r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 xml:space="preserve"> </m:t>
                                    </m:r>
                                    <m:r>
                                      <m:rPr>
                                        <m:nor m:val="on"/>
                                      </m:rP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cm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18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115" name="Line 115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604266" y="6325552"/>
              <a:ext cx="58072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代码：gaze/ridge.ts → fitRidge() 的交叉验证循环 · gaze/Calibration.tsx → ptToDeg()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chain-rail"/>
          <p:cNvGrpSpPr/>
          <p:nvPr/>
        </p:nvGrpSpPr>
        <p:grpSpPr>
          <a:xfrm>
            <a:off x="561975" y="123825"/>
            <a:ext cx="11068050" cy="437864"/>
            <a:chOff x="561975" y="123825"/>
            <a:chExt cx="11068050" cy="437864"/>
          </a:xfrm>
        </p:grpSpPr>
        <p:sp>
          <p:nvSpPr>
            <p:cNvPr id="2" name="Line 2"/>
            <p:cNvSpPr/>
            <p:nvPr/>
          </p:nvSpPr>
          <p:spPr>
            <a:xfrm>
              <a:off x="609600" y="2286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4267200" y="22860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5619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3907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4162425" y="123825"/>
              <a:ext cx="209550" cy="20955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4210050" y="171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6048375" y="180975"/>
              <a:ext cx="5581650" cy="95250"/>
              <a:chOff x="6048375" y="180975"/>
              <a:chExt cx="5581650" cy="9525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60483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78771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97059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15347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604647" y="370999"/>
              <a:ext cx="10982706" cy="190690"/>
              <a:chOff x="604647" y="370999"/>
              <a:chExt cx="10982706" cy="19069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604647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特征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3015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回归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1303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校正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9591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平滑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7879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注视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08933" y="370999"/>
                <a:ext cx="6893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焦点 · 吸附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313592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决策</a:t>
                </a:r>
              </a:p>
            </p:txBody>
          </p:sp>
        </p:grpSp>
      </p:grpSp>
      <p:grpSp>
        <p:nvGrpSpPr>
          <p:cNvPr id="24" name="header"/>
          <p:cNvGrpSpPr/>
          <p:nvPr/>
        </p:nvGrpSpPr>
        <p:grpSpPr>
          <a:xfrm>
            <a:off x="595884" y="699135"/>
            <a:ext cx="6941229" cy="778954"/>
            <a:chOff x="595884" y="699135"/>
            <a:chExt cx="6941229" cy="778954"/>
          </a:xfrm>
        </p:grpSpPr>
        <p:sp>
          <p:nvSpPr>
            <p:cNvPr id="22" name="TextBox 22"/>
            <p:cNvSpPr txBox="1"/>
            <p:nvPr/>
          </p:nvSpPr>
          <p:spPr>
            <a:xfrm>
              <a:off x="595884" y="699135"/>
              <a:ext cx="6933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你每按一次确认键，都在悄悄帮它重新校准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218" y="1155382"/>
              <a:ext cx="69358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用残差的时空加权平均修正漂移，收缩因子防止被一次误按带偏 ·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自研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609600" y="1600200"/>
            <a:ext cx="2438400" cy="609600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2743200" y="1600200"/>
            <a:ext cx="2438400" cy="609600"/>
          </a:xfrm>
          <a:prstGeom prst="chevron">
            <a:avLst/>
          </a:prstGeom>
          <a:solidFill>
            <a:schemeClr val="accent2">
              <a:alpha val="16000"/>
            </a:schemeClr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4876800" y="1600200"/>
            <a:ext cx="2438400" cy="609600"/>
          </a:xfrm>
          <a:prstGeom prst="chevron">
            <a:avLst/>
          </a:prstGeom>
          <a:solidFill>
            <a:schemeClr val="accent2">
              <a:alpha val="16000"/>
            </a:schemeClr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7010400" y="1600200"/>
            <a:ext cx="2438400" cy="609600"/>
          </a:xfrm>
          <a:prstGeom prst="chevron">
            <a:avLst/>
          </a:prstGeom>
          <a:solidFill>
            <a:schemeClr val="accent2">
              <a:alpha val="16000"/>
            </a:schemeClr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9144000" y="1600200"/>
            <a:ext cx="2438400" cy="609600"/>
          </a:xfrm>
          <a:prstGeom prst="chevron">
            <a:avLst/>
          </a:prstGeom>
          <a:solidFill>
            <a:schemeClr val="accent2">
              <a:alpha val="32000"/>
            </a:schemeClr>
          </a:solidFill>
          <a:ln>
            <a:noFill/>
          </a:ln>
        </p:spPr>
      </p:sp>
      <p:grpSp>
        <p:nvGrpSpPr>
          <p:cNvPr id="42" name="step-labels"/>
          <p:cNvGrpSpPr/>
          <p:nvPr/>
        </p:nvGrpSpPr>
        <p:grpSpPr>
          <a:xfrm>
            <a:off x="916813" y="1816418"/>
            <a:ext cx="10205974" cy="777716"/>
            <a:chOff x="916813" y="1816418"/>
            <a:chExt cx="10205974" cy="777716"/>
          </a:xfrm>
        </p:grpSpPr>
        <p:grpSp>
          <p:nvGrpSpPr>
            <p:cNvPr id="35" name="Group 35"/>
            <p:cNvGrpSpPr/>
            <p:nvPr/>
          </p:nvGrpSpPr>
          <p:grpSpPr>
            <a:xfrm>
              <a:off x="938239" y="1816418"/>
              <a:ext cx="9949705" cy="264033"/>
              <a:chOff x="938239" y="1816418"/>
              <a:chExt cx="9949705" cy="264033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938239" y="1816418"/>
                <a:ext cx="14763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按 A / X / Y 确认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501200" y="18164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记一条残差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434207" y="1816418"/>
                <a:ext cx="13235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空间 × 时间加权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78168" y="1816418"/>
                <a:ext cx="9028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收缩因子 k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838456" y="1816418"/>
                <a:ext cx="10494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校正量 Δ(p)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16813" y="2374106"/>
              <a:ext cx="10205974" cy="220028"/>
              <a:chOff x="916813" y="2374106"/>
              <a:chExt cx="10205974" cy="220028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916813" y="2374106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那一刻多半正看着焦点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999268" y="2374106"/>
                <a:ext cx="192626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真值 − 最近 450ms 预测均值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274361" y="2374106"/>
                <a:ext cx="16432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σ = 520pt · T = 20 分钟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684867" y="2374106"/>
                <a:ext cx="108946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证据少时往 0 收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603613" y="2374106"/>
                <a:ext cx="1519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加到之后每一帧预测上</a:t>
                </a:r>
              </a:p>
            </p:txBody>
          </p:sp>
        </p:grpSp>
      </p:grpSp>
      <p:grpSp>
        <p:nvGrpSpPr>
          <p:cNvPr id="50" name="formula-card"/>
          <p:cNvGrpSpPr/>
          <p:nvPr/>
        </p:nvGrpSpPr>
        <p:grpSpPr>
          <a:xfrm>
            <a:off x="609600" y="2781300"/>
            <a:ext cx="6362700" cy="3200400"/>
            <a:chOff x="609600" y="2781300"/>
            <a:chExt cx="6362700" cy="3200400"/>
          </a:xfrm>
        </p:grpSpPr>
        <p:sp>
          <p:nvSpPr>
            <p:cNvPr id="43" name="Rectangle 43"/>
            <p:cNvSpPr/>
            <p:nvPr/>
          </p:nvSpPr>
          <p:spPr>
            <a:xfrm>
              <a:off x="609600" y="2781300"/>
              <a:ext cx="6362700" cy="3200400"/>
            </a:xfrm>
            <a:prstGeom prst="roundRect">
              <a:avLst>
                <a:gd name="adj" fmla="val 595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0580" y="2981325"/>
              <a:ext cx="47124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本质：Nadaraya–Watson 核回归（局部加权平均）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104" y="331851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每条残差的权重 = 初始权重 × 离得近不近 × 新不新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formula-weight"/>
                <p:cNvSpPr txBox="1">
                  <a:spLocks noGrp="1"/>
                </p:cNvSpPr>
                <p:nvPr/>
              </p:nvSpPr>
              <p:spPr>
                <a:xfrm>
                  <a:off x="838200" y="3581400"/>
                  <a:ext cx="5905500" cy="666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e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p>
                        </m:sSubSup>
                        <m: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p>
                              <m:e>
                                <m:d>
                                  <m:dPr>
                                    <m:begChr m:val="‖"/>
                                    <m:sepChr m:val=""/>
                                    <m:endChr m:val="‖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zh-CN" sz="1800" dirty="0">
                                            <a:solidFill>
                                              <a:srgbClr val="1D1D1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1D1D1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b"/>
                                      </m:rP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τ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7" name="TextBox 47"/>
            <p:cNvSpPr txBox="1"/>
            <p:nvPr/>
          </p:nvSpPr>
          <p:spPr>
            <a:xfrm>
              <a:off x="832104" y="4385310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校正量 = 加权平均残差 × 收缩因子 k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formula-delta"/>
                <p:cNvSpPr txBox="1">
                  <a:spLocks noGrp="1"/>
                </p:cNvSpPr>
                <p:nvPr/>
              </p:nvSpPr>
              <p:spPr>
                <a:xfrm>
                  <a:off x="838200" y="4648200"/>
                  <a:ext cx="5905500" cy="8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"/>
                              </m:r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n"/>
                                <m:ctrl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/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0.35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9" name="TextBox 49"/>
            <p:cNvSpPr txBox="1"/>
            <p:nvPr/>
          </p:nvSpPr>
          <p:spPr>
            <a:xfrm>
              <a:off x="832104" y="56235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屏幕不同区域可以有不同的偏移，而不只是一个全局平移</a:t>
              </a:r>
            </a:p>
          </p:txBody>
        </p:sp>
      </p:grpSp>
      <p:grpSp>
        <p:nvGrpSpPr>
          <p:cNvPr id="54" name="detail-outlier"/>
          <p:cNvGrpSpPr/>
          <p:nvPr/>
        </p:nvGrpSpPr>
        <p:grpSpPr>
          <a:xfrm>
            <a:off x="7200900" y="2781300"/>
            <a:ext cx="4381500" cy="990600"/>
            <a:chOff x="7200900" y="2781300"/>
            <a:chExt cx="4381500" cy="990600"/>
          </a:xfrm>
        </p:grpSpPr>
        <p:sp>
          <p:nvSpPr>
            <p:cNvPr id="51" name="Rectangle 51"/>
            <p:cNvSpPr/>
            <p:nvPr/>
          </p:nvSpPr>
          <p:spPr>
            <a:xfrm>
              <a:off x="7200900" y="2781300"/>
              <a:ext cx="4381500" cy="990600"/>
            </a:xfrm>
            <a:prstGeom prst="roundRect">
              <a:avLst>
                <a:gd name="adj" fmla="val 1923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22642" y="29784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异常值剔除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23404" y="3299460"/>
              <a:ext cx="26029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真值和预测相差 ≥ 320px 直接丢掉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（差这么远，按键时多半没在看焦点）</a:t>
              </a:r>
            </a:p>
          </p:txBody>
        </p:sp>
      </p:grpSp>
      <p:grpSp>
        <p:nvGrpSpPr>
          <p:cNvPr id="58" name="detail-weight"/>
          <p:cNvGrpSpPr/>
          <p:nvPr/>
        </p:nvGrpSpPr>
        <p:grpSpPr>
          <a:xfrm>
            <a:off x="7200900" y="3886200"/>
            <a:ext cx="4381500" cy="990600"/>
            <a:chOff x="7200900" y="3886200"/>
            <a:chExt cx="4381500" cy="990600"/>
          </a:xfrm>
        </p:grpSpPr>
        <p:sp>
          <p:nvSpPr>
            <p:cNvPr id="55" name="Rectangle 55"/>
            <p:cNvSpPr/>
            <p:nvPr/>
          </p:nvSpPr>
          <p:spPr>
            <a:xfrm>
              <a:off x="7200900" y="3886200"/>
              <a:ext cx="4381500" cy="990600"/>
            </a:xfrm>
            <a:prstGeom prst="roundRect">
              <a:avLst>
                <a:gd name="adj" fmla="val 1923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22642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权重分级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23404" y="4404360"/>
              <a:ext cx="27249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隐式校准权重 0.6；主动漂移校正权重 2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没有硬焦点时，盯屏幕中心点 1.5 秒</a:t>
              </a:r>
            </a:p>
          </p:txBody>
        </p:sp>
      </p:grpSp>
      <p:grpSp>
        <p:nvGrpSpPr>
          <p:cNvPr id="62" name="detail-capacity"/>
          <p:cNvGrpSpPr/>
          <p:nvPr/>
        </p:nvGrpSpPr>
        <p:grpSpPr>
          <a:xfrm>
            <a:off x="7200900" y="4991100"/>
            <a:ext cx="4381500" cy="990600"/>
            <a:chOff x="7200900" y="4991100"/>
            <a:chExt cx="4381500" cy="990600"/>
          </a:xfrm>
        </p:grpSpPr>
        <p:sp>
          <p:nvSpPr>
            <p:cNvPr id="59" name="Rectangle 59"/>
            <p:cNvSpPr/>
            <p:nvPr/>
          </p:nvSpPr>
          <p:spPr>
            <a:xfrm>
              <a:off x="7200900" y="4991100"/>
              <a:ext cx="4381500" cy="990600"/>
            </a:xfrm>
            <a:prstGeom prst="roundRect">
              <a:avLst>
                <a:gd name="adj" fmla="val 1923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22642" y="51882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容量与衰减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23404" y="5509260"/>
              <a:ext cx="22296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最多保留最近 16 条残差；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 分钟前的残差权重只剩约 37%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63" name="Line 63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4266" y="6325552"/>
              <a:ext cx="7631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代码：gaze/engine.ts → addResidual() / correction() · input/router.ts → implicitCalibrate() / driftCorrect()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chain-rail"/>
          <p:cNvGrpSpPr/>
          <p:nvPr/>
        </p:nvGrpSpPr>
        <p:grpSpPr>
          <a:xfrm>
            <a:off x="561975" y="123825"/>
            <a:ext cx="11068050" cy="437864"/>
            <a:chOff x="561975" y="123825"/>
            <a:chExt cx="11068050" cy="437864"/>
          </a:xfrm>
        </p:grpSpPr>
        <p:sp>
          <p:nvSpPr>
            <p:cNvPr id="2" name="Line 2"/>
            <p:cNvSpPr/>
            <p:nvPr/>
          </p:nvSpPr>
          <p:spPr>
            <a:xfrm>
              <a:off x="609600" y="2286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6096000" y="228600"/>
              <a:ext cx="5486400" cy="9525"/>
            </a:xfrm>
            <a:custGeom>
              <a:avLst/>
              <a:gdLst/>
              <a:ahLst/>
              <a:cxnLst/>
              <a:rect l="l" t="t" r="r" b="b"/>
              <a:pathLst>
                <a:path w="5486400" h="9525">
                  <a:moveTo>
                    <a:pt x="0" y="0"/>
                  </a:moveTo>
                  <a:lnTo>
                    <a:pt x="54864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5619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3907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42195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5991225" y="123825"/>
              <a:ext cx="209550" cy="20955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038850" y="171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877175" y="180975"/>
              <a:ext cx="3752850" cy="95250"/>
              <a:chOff x="7877175" y="180975"/>
              <a:chExt cx="3752850" cy="9525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78771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97059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15347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604647" y="370999"/>
              <a:ext cx="10982706" cy="190690"/>
              <a:chOff x="604647" y="370999"/>
              <a:chExt cx="10982706" cy="19069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604647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特征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3015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回归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1303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校正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9591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平滑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7879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注视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08933" y="370999"/>
                <a:ext cx="6893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焦点 · 吸附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313592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决策</a:t>
                </a:r>
              </a:p>
            </p:txBody>
          </p:sp>
        </p:grpSp>
      </p:grpSp>
      <p:grpSp>
        <p:nvGrpSpPr>
          <p:cNvPr id="24" name="header"/>
          <p:cNvGrpSpPr/>
          <p:nvPr/>
        </p:nvGrpSpPr>
        <p:grpSpPr>
          <a:xfrm>
            <a:off x="595884" y="699135"/>
            <a:ext cx="8023860" cy="778954"/>
            <a:chOff x="595884" y="699135"/>
            <a:chExt cx="8023860" cy="778954"/>
          </a:xfrm>
        </p:grpSpPr>
        <p:sp>
          <p:nvSpPr>
            <p:cNvPr id="22" name="TextBox 22"/>
            <p:cNvSpPr txBox="1"/>
            <p:nvPr/>
          </p:nvSpPr>
          <p:spPr>
            <a:xfrm>
              <a:off x="595884" y="699135"/>
              <a:ext cx="80238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盯住时要稳，扫视时要快：让截止频率跟着速度走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218" y="1155382"/>
              <a:ext cx="58980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One Euro 滤波（Casiez 2012）同时解决抖动和延迟 · 引用</a:t>
              </a:r>
            </a:p>
          </p:txBody>
        </p:sp>
      </p:grpSp>
      <p:grpSp>
        <p:nvGrpSpPr>
          <p:cNvPr id="30" name="fixed-low"/>
          <p:cNvGrpSpPr/>
          <p:nvPr/>
        </p:nvGrpSpPr>
        <p:grpSpPr>
          <a:xfrm>
            <a:off x="609600" y="1600200"/>
            <a:ext cx="5257800" cy="1352550"/>
            <a:chOff x="609600" y="1600200"/>
            <a:chExt cx="5257800" cy="1352550"/>
          </a:xfrm>
        </p:grpSpPr>
        <p:sp>
          <p:nvSpPr>
            <p:cNvPr id="25" name="Rectangle 25"/>
            <p:cNvSpPr/>
            <p:nvPr/>
          </p:nvSpPr>
          <p:spPr>
            <a:xfrm>
              <a:off x="609600" y="1600200"/>
              <a:ext cx="5257800" cy="1352550"/>
            </a:xfrm>
            <a:prstGeom prst="roundRect">
              <a:avLst>
                <a:gd name="adj" fmla="val 140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0580" y="18002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固定截止频率低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342" y="2140268"/>
              <a:ext cx="22425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很稳，但眼睛跳走时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光环要慢半拍才跟上（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延迟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）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3733800" y="2019300"/>
              <a:ext cx="1905000" cy="609600"/>
            </a:xfrm>
            <a:custGeom>
              <a:avLst/>
              <a:gdLst/>
              <a:ahLst/>
              <a:cxnLst/>
              <a:rect l="l" t="t" r="r" b="b"/>
              <a:pathLst>
                <a:path w="1905000" h="609600">
                  <a:moveTo>
                    <a:pt x="0" y="609600"/>
                  </a:moveTo>
                  <a:lnTo>
                    <a:pt x="742950" y="609600"/>
                  </a:lnTo>
                  <a:lnTo>
                    <a:pt x="742950" y="0"/>
                  </a:ln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8E8E93"/>
              </a:solidFill>
              <a:prstDash val="dash"/>
            </a:ln>
          </p:spPr>
        </p:sp>
        <p:sp>
          <p:nvSpPr>
            <p:cNvPr id="29" name="Freeform 29"/>
            <p:cNvSpPr/>
            <p:nvPr/>
          </p:nvSpPr>
          <p:spPr>
            <a:xfrm>
              <a:off x="3733800" y="2038350"/>
              <a:ext cx="1905000" cy="590550"/>
            </a:xfrm>
            <a:custGeom>
              <a:avLst/>
              <a:gdLst/>
              <a:ahLst/>
              <a:cxnLst/>
              <a:rect l="l" t="t" r="r" b="b"/>
              <a:pathLst>
                <a:path w="1905000" h="590550">
                  <a:moveTo>
                    <a:pt x="0" y="590550"/>
                  </a:moveTo>
                  <a:lnTo>
                    <a:pt x="742950" y="590550"/>
                  </a:lnTo>
                  <a:cubicBezTo>
                    <a:pt x="1219200" y="590550"/>
                    <a:pt x="1409700" y="38100"/>
                    <a:pt x="1905000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36" name="fixed-high"/>
          <p:cNvGrpSpPr/>
          <p:nvPr/>
        </p:nvGrpSpPr>
        <p:grpSpPr>
          <a:xfrm>
            <a:off x="609600" y="3124200"/>
            <a:ext cx="5257800" cy="1352550"/>
            <a:chOff x="609600" y="3124200"/>
            <a:chExt cx="5257800" cy="1352550"/>
          </a:xfrm>
        </p:grpSpPr>
        <p:sp>
          <p:nvSpPr>
            <p:cNvPr id="31" name="Rectangle 31"/>
            <p:cNvSpPr/>
            <p:nvPr/>
          </p:nvSpPr>
          <p:spPr>
            <a:xfrm>
              <a:off x="609600" y="3124200"/>
              <a:ext cx="5257800" cy="1352550"/>
            </a:xfrm>
            <a:prstGeom prst="roundRect">
              <a:avLst>
                <a:gd name="adj" fmla="val 140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0580" y="33242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固定截止频率高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342" y="3664268"/>
              <a:ext cx="17282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跟得快，但盯着不动时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光环一直在抖（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抖动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）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3733800" y="3543300"/>
              <a:ext cx="1905000" cy="609600"/>
            </a:xfrm>
            <a:custGeom>
              <a:avLst/>
              <a:gdLst/>
              <a:ahLst/>
              <a:cxnLst/>
              <a:rect l="l" t="t" r="r" b="b"/>
              <a:pathLst>
                <a:path w="1905000" h="609600">
                  <a:moveTo>
                    <a:pt x="0" y="609600"/>
                  </a:moveTo>
                  <a:lnTo>
                    <a:pt x="742950" y="609600"/>
                  </a:lnTo>
                  <a:lnTo>
                    <a:pt x="742950" y="0"/>
                  </a:ln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8E8E93"/>
              </a:solidFill>
              <a:prstDash val="dash"/>
            </a:ln>
          </p:spPr>
        </p:sp>
        <p:sp>
          <p:nvSpPr>
            <p:cNvPr id="35" name="Freeform 35"/>
            <p:cNvSpPr/>
            <p:nvPr/>
          </p:nvSpPr>
          <p:spPr>
            <a:xfrm>
              <a:off x="3733800" y="3486150"/>
              <a:ext cx="1905000" cy="714375"/>
            </a:xfrm>
            <a:custGeom>
              <a:avLst/>
              <a:gdLst/>
              <a:ahLst/>
              <a:cxnLst/>
              <a:rect l="l" t="t" r="r" b="b"/>
              <a:pathLst>
                <a:path w="1905000" h="714375">
                  <a:moveTo>
                    <a:pt x="0" y="628650"/>
                  </a:moveTo>
                  <a:lnTo>
                    <a:pt x="114300" y="714375"/>
                  </a:lnTo>
                  <a:lnTo>
                    <a:pt x="228600" y="609600"/>
                  </a:lnTo>
                  <a:lnTo>
                    <a:pt x="342900" y="704850"/>
                  </a:lnTo>
                  <a:lnTo>
                    <a:pt x="457200" y="638175"/>
                  </a:lnTo>
                  <a:lnTo>
                    <a:pt x="571500" y="714375"/>
                  </a:lnTo>
                  <a:lnTo>
                    <a:pt x="704850" y="628650"/>
                  </a:lnTo>
                  <a:lnTo>
                    <a:pt x="762000" y="133350"/>
                  </a:lnTo>
                  <a:lnTo>
                    <a:pt x="876300" y="19050"/>
                  </a:lnTo>
                  <a:lnTo>
                    <a:pt x="990600" y="114300"/>
                  </a:lnTo>
                  <a:lnTo>
                    <a:pt x="1104900" y="0"/>
                  </a:lnTo>
                  <a:lnTo>
                    <a:pt x="1219200" y="104775"/>
                  </a:lnTo>
                  <a:lnTo>
                    <a:pt x="1333500" y="9525"/>
                  </a:lnTo>
                  <a:lnTo>
                    <a:pt x="1447800" y="114300"/>
                  </a:lnTo>
                  <a:lnTo>
                    <a:pt x="1562100" y="19050"/>
                  </a:lnTo>
                  <a:lnTo>
                    <a:pt x="1676400" y="95250"/>
                  </a:lnTo>
                  <a:lnTo>
                    <a:pt x="1790700" y="9525"/>
                  </a:lnTo>
                  <a:lnTo>
                    <a:pt x="1905000" y="762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43" name="one-euro"/>
          <p:cNvGrpSpPr/>
          <p:nvPr/>
        </p:nvGrpSpPr>
        <p:grpSpPr>
          <a:xfrm>
            <a:off x="6096000" y="1600200"/>
            <a:ext cx="5486400" cy="2876550"/>
            <a:chOff x="6096000" y="1600200"/>
            <a:chExt cx="5486400" cy="2876550"/>
          </a:xfrm>
        </p:grpSpPr>
        <p:sp>
          <p:nvSpPr>
            <p:cNvPr id="37" name="Rectangle 37"/>
            <p:cNvSpPr/>
            <p:nvPr/>
          </p:nvSpPr>
          <p:spPr>
            <a:xfrm>
              <a:off x="6096000" y="1600200"/>
              <a:ext cx="5486400" cy="2876550"/>
            </a:xfrm>
            <a:prstGeom prst="roundRect">
              <a:avLst>
                <a:gd name="adj" fmla="val 6623"/>
              </a:avLst>
            </a:prstGeom>
            <a:solidFill>
              <a:schemeClr val="accent1">
                <a:alpha val="6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16980" y="1800225"/>
              <a:ext cx="36179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One Euro：截止频率 = 下限 + β × 速度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-cutoff"/>
                <p:cNvSpPr txBox="1">
                  <a:spLocks noGrp="1"/>
                </p:cNvSpPr>
                <p:nvPr/>
              </p:nvSpPr>
              <p:spPr>
                <a:xfrm>
                  <a:off x="6324600" y="2114550"/>
                  <a:ext cx="50292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e>
                            <m: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b>
                            <m: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min</m:t>
                                </m:r>
                              </m:fName>
                              <m:e/>
                            </m:func>
                          </m:sub>
                        </m:sSub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95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β</m:t>
                        </m:r>
                        <m:r>
                          <a:rPr lang="zh-CN" sz="195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̇"/>
                                <m:ctrlPr>
                                  <a:rPr lang="zh-CN" sz="195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ˆ"/>
                                    <m:ctrlPr>
                                      <a:rPr lang="zh-CN" sz="195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95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</m:acc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-alpha"/>
                <p:cNvSpPr txBox="1">
                  <a:spLocks noGrp="1"/>
                </p:cNvSpPr>
                <p:nvPr/>
              </p:nvSpPr>
              <p:spPr>
                <a:xfrm>
                  <a:off x="6324600" y="2762250"/>
                  <a:ext cx="5029200" cy="723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zh-CN" sz="195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τ</m:t>
                            </m:r>
                            <m:r>
                              <m:rPr>
                                <m:sty m:val="p"/>
                              </m:rP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/Δ</m:t>
                            </m:r>
                            <m: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95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95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τ</m:t>
                        </m:r>
                        <m:r>
                          <m:rPr>
                            <m:sty m:val="p"/>
                          </m:rPr>
                          <a:rPr lang="zh-CN" sz="195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95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</m:t>
                            </m:r>
                            <m:sSub>
                              <m:e>
                                <m:r>
                                  <a:rPr lang="zh-CN" sz="195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a:rPr lang="zh-CN" sz="195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6317742" y="3664268"/>
              <a:ext cx="3357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盯着不动 → 速度小 → f_c 低 → 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强平滑，稳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17742" y="4007168"/>
              <a:ext cx="3357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扫视 → 速度大 → f_c 高 → 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弱平滑，跟得上</a:t>
              </a:r>
            </a:p>
          </p:txBody>
        </p:sp>
      </p:grpSp>
      <p:grpSp>
        <p:nvGrpSpPr>
          <p:cNvPr id="52" name="params"/>
          <p:cNvGrpSpPr/>
          <p:nvPr/>
        </p:nvGrpSpPr>
        <p:grpSpPr>
          <a:xfrm>
            <a:off x="609600" y="4667250"/>
            <a:ext cx="10972800" cy="1314450"/>
            <a:chOff x="609600" y="4667250"/>
            <a:chExt cx="10972800" cy="1314450"/>
          </a:xfrm>
        </p:grpSpPr>
        <p:sp>
          <p:nvSpPr>
            <p:cNvPr id="44" name="Rectangle 44"/>
            <p:cNvSpPr/>
            <p:nvPr/>
          </p:nvSpPr>
          <p:spPr>
            <a:xfrm>
              <a:off x="609600" y="4667250"/>
              <a:ext cx="10972800" cy="1314450"/>
            </a:xfrm>
            <a:prstGeom prst="roundRect">
              <a:avLst>
                <a:gd name="adj" fmla="val 144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0580" y="48672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项目里的参数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831342" y="5245418"/>
              <a:ext cx="8668055" cy="625983"/>
              <a:chOff x="831342" y="5245418"/>
              <a:chExt cx="8668055" cy="625983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831342" y="5245418"/>
                <a:ext cx="15512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下限 f_min = </a:t>
                </a:r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0.55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231642" y="5245418"/>
                <a:ext cx="9523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β = </a:t>
                </a:r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0.0045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946142" y="5245418"/>
                <a:ext cx="35237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速度先用 1Hz 低通滤一下，防止被噪声带偏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1342" y="5607368"/>
                <a:ext cx="50478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设置里的「平滑度」滑块 v：f_min = max(0.12, 1.4 − 1.2v)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232142" y="5607368"/>
                <a:ext cx="22672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x、y 各用一个独立的滤波器</a:t>
                </a:r>
              </a:p>
            </p:txBody>
          </p:sp>
        </p:grpSp>
      </p:grpSp>
      <p:grpSp>
        <p:nvGrpSpPr>
          <p:cNvPr id="56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53" name="Line 53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4266" y="6325552"/>
              <a:ext cx="8235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代码：gaze/filters.ts → OneEuro / OneEuro2D · gaze/engine.ts → setSmoothing()　　灰虚线 = 真实视线，蓝线 = 滤波输出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chain-rail"/>
          <p:cNvGrpSpPr/>
          <p:nvPr/>
        </p:nvGrpSpPr>
        <p:grpSpPr>
          <a:xfrm>
            <a:off x="561975" y="123825"/>
            <a:ext cx="11068050" cy="437864"/>
            <a:chOff x="561975" y="123825"/>
            <a:chExt cx="11068050" cy="437864"/>
          </a:xfrm>
        </p:grpSpPr>
        <p:sp>
          <p:nvSpPr>
            <p:cNvPr id="2" name="Line 2"/>
            <p:cNvSpPr/>
            <p:nvPr/>
          </p:nvSpPr>
          <p:spPr>
            <a:xfrm>
              <a:off x="609600" y="22860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924800" y="2286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5619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3907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42195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0483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820025" y="123825"/>
              <a:ext cx="209550" cy="20955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867650" y="171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705975" y="180975"/>
              <a:ext cx="1924050" cy="95250"/>
              <a:chOff x="9705975" y="180975"/>
              <a:chExt cx="1924050" cy="9525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97059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1534775" y="180975"/>
                <a:ext cx="95250" cy="9525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604647" y="370999"/>
              <a:ext cx="10982706" cy="190690"/>
              <a:chOff x="604647" y="370999"/>
              <a:chExt cx="10982706" cy="19069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604647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特征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3015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回归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1303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校正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9591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平滑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7879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注视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08933" y="370999"/>
                <a:ext cx="6893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焦点 · 吸附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313592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决策</a:t>
                </a:r>
              </a:p>
            </p:txBody>
          </p:sp>
        </p:grpSp>
      </p:grpSp>
      <p:grpSp>
        <p:nvGrpSpPr>
          <p:cNvPr id="24" name="header"/>
          <p:cNvGrpSpPr/>
          <p:nvPr/>
        </p:nvGrpSpPr>
        <p:grpSpPr>
          <a:xfrm>
            <a:off x="595884" y="699135"/>
            <a:ext cx="8023860" cy="778954"/>
            <a:chOff x="595884" y="699135"/>
            <a:chExt cx="8023860" cy="778954"/>
          </a:xfrm>
        </p:grpSpPr>
        <p:sp>
          <p:nvSpPr>
            <p:cNvPr id="22" name="TextBox 22"/>
            <p:cNvSpPr txBox="1"/>
            <p:nvPr/>
          </p:nvSpPr>
          <p:spPr>
            <a:xfrm>
              <a:off x="595884" y="699135"/>
              <a:ext cx="802386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从视线流里切出「盯住了」：开始和结束用两个圈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218" y="1155382"/>
              <a:ext cx="67470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读书时眼睛是「停一下 → 跳一下 → 再停」，只有停下来的注视才在读</a:t>
              </a:r>
            </a:p>
          </p:txBody>
        </p:sp>
      </p:grpSp>
      <p:grpSp>
        <p:nvGrpSpPr>
          <p:cNvPr id="58" name="trajectory"/>
          <p:cNvGrpSpPr/>
          <p:nvPr/>
        </p:nvGrpSpPr>
        <p:grpSpPr>
          <a:xfrm>
            <a:off x="1342644" y="2667000"/>
            <a:ext cx="4981956" cy="3057906"/>
            <a:chOff x="1342644" y="2667000"/>
            <a:chExt cx="4981956" cy="3057906"/>
          </a:xfrm>
        </p:grpSpPr>
        <p:grpSp>
          <p:nvGrpSpPr>
            <p:cNvPr id="33" name="Group 33"/>
            <p:cNvGrpSpPr/>
            <p:nvPr/>
          </p:nvGrpSpPr>
          <p:grpSpPr>
            <a:xfrm>
              <a:off x="1504950" y="2933700"/>
              <a:ext cx="495300" cy="419100"/>
              <a:chOff x="1504950" y="2933700"/>
              <a:chExt cx="495300" cy="41910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1638300" y="2990850"/>
                <a:ext cx="76200" cy="76200"/>
              </a:xfrm>
              <a:prstGeom prst="ellipse">
                <a:avLst/>
              </a:prstGeom>
              <a:solidFill>
                <a:srgbClr val="8E8E93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1771650" y="3105150"/>
                <a:ext cx="76200" cy="76200"/>
              </a:xfrm>
              <a:prstGeom prst="ellipse">
                <a:avLst/>
              </a:prstGeom>
              <a:solidFill>
                <a:srgbClr val="8E8E93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1581150" y="3200400"/>
                <a:ext cx="76200" cy="76200"/>
              </a:xfrm>
              <a:prstGeom prst="ellipse">
                <a:avLst/>
              </a:prstGeom>
              <a:solidFill>
                <a:srgbClr val="8E8E93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1847850" y="2933700"/>
                <a:ext cx="76200" cy="76200"/>
              </a:xfrm>
              <a:prstGeom prst="ellipse">
                <a:avLst/>
              </a:prstGeom>
              <a:solidFill>
                <a:srgbClr val="8E8E93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1714500" y="3276600"/>
                <a:ext cx="76200" cy="76200"/>
              </a:xfrm>
              <a:prstGeom prst="ellipse">
                <a:avLst/>
              </a:prstGeom>
              <a:solidFill>
                <a:srgbClr val="8E8E93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1924050" y="3162300"/>
                <a:ext cx="76200" cy="76200"/>
              </a:xfrm>
              <a:prstGeom prst="ellipse">
                <a:avLst/>
              </a:prstGeom>
              <a:solidFill>
                <a:srgbClr val="8E8E93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1504950" y="3067050"/>
                <a:ext cx="76200" cy="76200"/>
              </a:xfrm>
              <a:prstGeom prst="ellipse">
                <a:avLst/>
              </a:prstGeom>
              <a:solidFill>
                <a:srgbClr val="8E8E93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1809750" y="3028950"/>
                <a:ext cx="76200" cy="76200"/>
              </a:xfrm>
              <a:prstGeom prst="ellipse">
                <a:avLst/>
              </a:prstGeom>
              <a:solidFill>
                <a:srgbClr val="8E8E93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342644" y="26898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上一次注视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2514600" y="3314700"/>
              <a:ext cx="1466850" cy="323850"/>
              <a:chOff x="2514600" y="3314700"/>
              <a:chExt cx="1466850" cy="323850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2514600" y="3314700"/>
                <a:ext cx="76200" cy="76200"/>
              </a:xfrm>
              <a:prstGeom prst="ellipse">
                <a:avLst/>
              </a:prstGeom>
              <a:solidFill>
                <a:srgbClr val="8E8E93">
                  <a:alpha val="60000"/>
                </a:srgbClr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3200400" y="3448050"/>
                <a:ext cx="76200" cy="76200"/>
              </a:xfrm>
              <a:prstGeom prst="ellipse">
                <a:avLst/>
              </a:prstGeom>
              <a:solidFill>
                <a:srgbClr val="8E8E93">
                  <a:alpha val="60000"/>
                </a:srgbClr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3905250" y="3562350"/>
                <a:ext cx="76200" cy="76200"/>
              </a:xfrm>
              <a:prstGeom prst="ellipse">
                <a:avLst/>
              </a:prstGeom>
              <a:solidFill>
                <a:srgbClr val="8E8E93">
                  <a:alpha val="60000"/>
                </a:srgbClr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2505456" y="31470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扫视：点稀、跳得快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3962400" y="2667000"/>
              <a:ext cx="2362200" cy="23622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prstDash val="lgDash"/>
            </a:ln>
          </p:spPr>
        </p:sp>
        <p:sp>
          <p:nvSpPr>
            <p:cNvPr id="41" name="Ellipse 41"/>
            <p:cNvSpPr/>
            <p:nvPr/>
          </p:nvSpPr>
          <p:spPr>
            <a:xfrm>
              <a:off x="4238625" y="2943225"/>
              <a:ext cx="1809750" cy="1809750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4705350" y="3505200"/>
              <a:ext cx="838200" cy="704850"/>
              <a:chOff x="4705350" y="3505200"/>
              <a:chExt cx="838200" cy="70485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4914900" y="36957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181600" y="36385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5048250" y="39052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5314950" y="38481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4819650" y="39624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5257800" y="40386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5467350" y="36957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4991100" y="35052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5391150" y="41338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4705350" y="3771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53" name="Ellipse 53"/>
            <p:cNvSpPr/>
            <p:nvPr/>
          </p:nvSpPr>
          <p:spPr>
            <a:xfrm>
              <a:off x="5086350" y="3790950"/>
              <a:ext cx="114300" cy="114300"/>
            </a:xfrm>
            <a:prstGeom prst="ellipse">
              <a:avLst/>
            </a:prstGeom>
            <a:solidFill>
              <a:srgbClr val="FACC15"/>
            </a:solidFill>
            <a:ln w="9525">
              <a:solidFill>
                <a:schemeClr val="dk1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5143500" y="3848100"/>
              <a:ext cx="904875" cy="9525"/>
            </a:xfrm>
            <a:custGeom>
              <a:avLst/>
              <a:gdLst/>
              <a:ahLst/>
              <a:cxnLst/>
              <a:rect l="l" t="t" r="r" b="b"/>
              <a:pathLst>
                <a:path w="904875" h="9525">
                  <a:moveTo>
                    <a:pt x="0" y="0"/>
                  </a:moveTo>
                  <a:lnTo>
                    <a:pt x="904875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453375" y="3936206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 = 95px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160063" y="5204460"/>
              <a:ext cx="1966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虚线外圈 1.3 × 95 ≈ 124px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994480" y="549021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琥珀点 = 质心，随新点不断更新</a:t>
              </a:r>
            </a:p>
          </p:txBody>
        </p:sp>
      </p:grpSp>
      <p:grpSp>
        <p:nvGrpSpPr>
          <p:cNvPr id="69" name="rules"/>
          <p:cNvGrpSpPr/>
          <p:nvPr/>
        </p:nvGrpSpPr>
        <p:grpSpPr>
          <a:xfrm>
            <a:off x="7230618" y="1841182"/>
            <a:ext cx="4351782" cy="3835718"/>
            <a:chOff x="7230618" y="1841182"/>
            <a:chExt cx="4351782" cy="3835718"/>
          </a:xfrm>
        </p:grpSpPr>
        <p:sp>
          <p:nvSpPr>
            <p:cNvPr id="59" name="TextBox 59"/>
            <p:cNvSpPr txBox="1"/>
            <p:nvPr/>
          </p:nvSpPr>
          <p:spPr>
            <a:xfrm>
              <a:off x="7230618" y="1841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三条规则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239000" y="2247900"/>
              <a:ext cx="4343400" cy="1066800"/>
            </a:xfrm>
            <a:prstGeom prst="roundRect">
              <a:avLst>
                <a:gd name="adj" fmla="val 17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59980" y="2447925"/>
              <a:ext cx="13692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开始 fixStart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60742" y="2787968"/>
              <a:ext cx="211397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最近 140ms 的点（≥ 3 个）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全在质心 95px 内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239000" y="3429000"/>
              <a:ext cx="4343400" cy="1066800"/>
            </a:xfrm>
            <a:prstGeom prst="roundRect">
              <a:avLst>
                <a:gd name="adj" fmla="val 17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59980" y="3629025"/>
              <a:ext cx="1485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 fixUpdate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60742" y="3969068"/>
              <a:ext cx="15567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新点离质心 ≤ 124px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就并进来，更新质心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239000" y="4610100"/>
              <a:ext cx="4343400" cy="1066800"/>
            </a:xfrm>
            <a:prstGeom prst="roundRect">
              <a:avLst>
                <a:gd name="adj" fmla="val 17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59980" y="4810125"/>
              <a:ext cx="1136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结束 fixEnd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60742" y="5150168"/>
              <a:ext cx="17282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新点跑出外圈就结束，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重新开始积累</a:t>
              </a:r>
            </a:p>
          </p:txBody>
        </p:sp>
      </p:grpSp>
      <p:grpSp>
        <p:nvGrpSpPr>
          <p:cNvPr id="71" name="hysteresis-note"/>
          <p:cNvGrpSpPr/>
          <p:nvPr/>
        </p:nvGrpSpPr>
        <p:grpSpPr>
          <a:xfrm>
            <a:off x="603504" y="5852160"/>
            <a:ext cx="6498184" cy="234696"/>
            <a:chOff x="603504" y="5852160"/>
            <a:chExt cx="6498184" cy="234696"/>
          </a:xfrm>
        </p:grpSpPr>
        <p:sp>
          <p:nvSpPr>
            <p:cNvPr id="70" name="TextBox 70"/>
            <p:cNvSpPr txBox="1"/>
            <p:nvPr/>
          </p:nvSpPr>
          <p:spPr>
            <a:xfrm>
              <a:off x="603504" y="5852160"/>
              <a:ext cx="6498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两个圈不一样大 = 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迟滞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：视线在边界抖动时不会反复开关；半径放大是为了扛住摄像头噪声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72" name="Line 72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04266" y="6325552"/>
              <a:ext cx="5482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代码：gaze/filters.ts → FixationDetector · 事件驱动焦点控制器和 Jev 的停留判断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chain-rail"/>
          <p:cNvGrpSpPr/>
          <p:nvPr/>
        </p:nvGrpSpPr>
        <p:grpSpPr>
          <a:xfrm>
            <a:off x="561975" y="123825"/>
            <a:ext cx="11068050" cy="437864"/>
            <a:chOff x="561975" y="123825"/>
            <a:chExt cx="11068050" cy="437864"/>
          </a:xfrm>
        </p:grpSpPr>
        <p:sp>
          <p:nvSpPr>
            <p:cNvPr id="2" name="Line 2"/>
            <p:cNvSpPr/>
            <p:nvPr/>
          </p:nvSpPr>
          <p:spPr>
            <a:xfrm>
              <a:off x="609600" y="2286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9753600" y="228600"/>
              <a:ext cx="1828800" cy="9525"/>
            </a:xfrm>
            <a:custGeom>
              <a:avLst/>
              <a:gdLst/>
              <a:ahLst/>
              <a:cxnLst/>
              <a:rect l="l" t="t" r="r" b="b"/>
              <a:pathLst>
                <a:path w="1828800" h="9525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5619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3907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42195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0483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8771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648825" y="123825"/>
              <a:ext cx="209550" cy="20955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696450" y="171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534775" y="1809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04647" y="370999"/>
              <a:ext cx="10982706" cy="190690"/>
              <a:chOff x="604647" y="370999"/>
              <a:chExt cx="10982706" cy="19069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604647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特征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3015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回归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303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校正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9591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平滑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7879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注视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05141" y="370999"/>
                <a:ext cx="69691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焦点 · 吸附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313592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决策</a:t>
                </a:r>
              </a:p>
            </p:txBody>
          </p:sp>
        </p:grpSp>
      </p:grpSp>
      <p:grpSp>
        <p:nvGrpSpPr>
          <p:cNvPr id="23" name="header"/>
          <p:cNvGrpSpPr/>
          <p:nvPr/>
        </p:nvGrpSpPr>
        <p:grpSpPr>
          <a:xfrm>
            <a:off x="595884" y="699135"/>
            <a:ext cx="8962110" cy="778954"/>
            <a:chOff x="595884" y="699135"/>
            <a:chExt cx="8962110" cy="778954"/>
          </a:xfrm>
        </p:grpSpPr>
        <p:sp>
          <p:nvSpPr>
            <p:cNvPr id="21" name="TextBox 21"/>
            <p:cNvSpPr txBox="1"/>
            <p:nvPr/>
          </p:nvSpPr>
          <p:spPr>
            <a:xfrm>
              <a:off x="595884" y="699135"/>
              <a:ext cx="65699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眼睛负责找到那一段，手负责点到那个词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1218" y="1155382"/>
              <a:ext cx="8956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两级焦点借鉴 MAGIC pointing（Zhai 1999）：视线粗定位，Joy-Con 摇杆精修 · 自研设计</a:t>
              </a:r>
            </a:p>
          </p:txBody>
        </p:sp>
      </p:grpSp>
      <p:grpSp>
        <p:nvGrpSpPr>
          <p:cNvPr id="36" name="soft-focus"/>
          <p:cNvGrpSpPr/>
          <p:nvPr/>
        </p:nvGrpSpPr>
        <p:grpSpPr>
          <a:xfrm>
            <a:off x="609600" y="1600200"/>
            <a:ext cx="4572000" cy="2590800"/>
            <a:chOff x="609600" y="1600200"/>
            <a:chExt cx="4572000" cy="2590800"/>
          </a:xfrm>
        </p:grpSpPr>
        <p:sp>
          <p:nvSpPr>
            <p:cNvPr id="24" name="Rectangle 24"/>
            <p:cNvSpPr/>
            <p:nvPr/>
          </p:nvSpPr>
          <p:spPr>
            <a:xfrm>
              <a:off x="609600" y="1600200"/>
              <a:ext cx="4572000" cy="2590800"/>
            </a:xfrm>
            <a:prstGeom prst="roundRect">
              <a:avLst>
                <a:gd name="adj" fmla="val 7353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76300" y="1866900"/>
              <a:ext cx="228599" cy="152400"/>
              <a:chOff x="876300" y="1866900"/>
              <a:chExt cx="228599" cy="1524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65200" y="19177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76300" y="1866900"/>
                <a:ext cx="228599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52400">
                    <a:moveTo>
                      <a:pt x="228599" y="76200"/>
                    </a:moveTo>
                    <a:cubicBezTo>
                      <a:pt x="198120" y="127000"/>
                      <a:pt x="160020" y="152400"/>
                      <a:pt x="114300" y="152400"/>
                    </a:cubicBezTo>
                    <a:cubicBezTo>
                      <a:pt x="68580" y="152400"/>
                      <a:pt x="30480" y="127000"/>
                      <a:pt x="0" y="76200"/>
                    </a:cubicBezTo>
                    <a:cubicBezTo>
                      <a:pt x="30480" y="25400"/>
                      <a:pt x="68580" y="0"/>
                      <a:pt x="114300" y="0"/>
                    </a:cubicBezTo>
                    <a:cubicBezTo>
                      <a:pt x="160020" y="0"/>
                      <a:pt x="198120" y="25400"/>
                      <a:pt x="228599" y="762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248918" y="1841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软焦点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342" y="2254568"/>
              <a:ext cx="3884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视线（注视事件）驱动 · 按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段落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高亮 · 默认状态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8200" y="2628900"/>
              <a:ext cx="4114800" cy="1333500"/>
            </a:xfrm>
            <a:prstGeom prst="roundRect">
              <a:avLst>
                <a:gd name="adj" fmla="val 11429"/>
              </a:avLst>
            </a:prstGeom>
            <a:solidFill>
              <a:schemeClr val="accent2">
                <a:alpha val="12000"/>
              </a:schemeClr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66800" y="2857500"/>
              <a:ext cx="3657600" cy="857250"/>
              <a:chOff x="1066800" y="2857500"/>
              <a:chExt cx="3657600" cy="8572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1066800" y="2857500"/>
                <a:ext cx="36576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AEAEB2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1066800" y="3105150"/>
                <a:ext cx="34290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AEAEB2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1066800" y="3352800"/>
                <a:ext cx="36576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AEAEB2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1066800" y="3600450"/>
                <a:ext cx="20955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AEAEB2"/>
              </a:solidFill>
              <a:ln>
                <a:noFill/>
              </a:ln>
            </p:spPr>
          </p:sp>
        </p:grpSp>
      </p:grpSp>
      <p:grpSp>
        <p:nvGrpSpPr>
          <p:cNvPr id="55" name="hard-focus"/>
          <p:cNvGrpSpPr/>
          <p:nvPr/>
        </p:nvGrpSpPr>
        <p:grpSpPr>
          <a:xfrm>
            <a:off x="7010400" y="1600200"/>
            <a:ext cx="4572000" cy="2590800"/>
            <a:chOff x="7010400" y="1600200"/>
            <a:chExt cx="4572000" cy="2590800"/>
          </a:xfrm>
        </p:grpSpPr>
        <p:sp>
          <p:nvSpPr>
            <p:cNvPr id="37" name="Rectangle 37"/>
            <p:cNvSpPr/>
            <p:nvPr/>
          </p:nvSpPr>
          <p:spPr>
            <a:xfrm>
              <a:off x="7010400" y="1600200"/>
              <a:ext cx="4572000" cy="2590800"/>
            </a:xfrm>
            <a:prstGeom prst="roundRect">
              <a:avLst>
                <a:gd name="adj" fmla="val 7353"/>
              </a:avLst>
            </a:prstGeom>
            <a:solidFill>
              <a:schemeClr val="accent1">
                <a:alpha val="6000"/>
              </a:schemeClr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262636" y="1854193"/>
              <a:ext cx="258175" cy="193201"/>
              <a:chOff x="7262636" y="1854193"/>
              <a:chExt cx="258175" cy="193201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262636" y="1854193"/>
                <a:ext cx="236714" cy="192494"/>
              </a:xfrm>
              <a:custGeom>
                <a:avLst/>
                <a:gdLst/>
                <a:ahLst/>
                <a:cxnLst/>
                <a:rect l="l" t="t" r="r" b="b"/>
                <a:pathLst>
                  <a:path w="236714" h="192494">
                    <a:moveTo>
                      <a:pt x="128764" y="7"/>
                    </a:moveTo>
                    <a:lnTo>
                      <a:pt x="173214" y="7"/>
                    </a:lnTo>
                    <a:cubicBezTo>
                      <a:pt x="208284" y="7"/>
                      <a:pt x="236714" y="28437"/>
                      <a:pt x="236714" y="63507"/>
                    </a:cubicBezTo>
                    <a:cubicBezTo>
                      <a:pt x="236714" y="98577"/>
                      <a:pt x="208284" y="127007"/>
                      <a:pt x="173214" y="127007"/>
                    </a:cubicBezTo>
                    <a:lnTo>
                      <a:pt x="103364" y="127007"/>
                    </a:lnTo>
                    <a:lnTo>
                      <a:pt x="52374" y="180690"/>
                    </a:lnTo>
                    <a:cubicBezTo>
                      <a:pt x="43413" y="190123"/>
                      <a:pt x="29294" y="192494"/>
                      <a:pt x="17744" y="186502"/>
                    </a:cubicBezTo>
                    <a:cubicBezTo>
                      <a:pt x="6195" y="180511"/>
                      <a:pt x="0" y="167603"/>
                      <a:pt x="2552" y="154845"/>
                    </a:cubicBezTo>
                    <a:lnTo>
                      <a:pt x="23303" y="51048"/>
                    </a:lnTo>
                    <a:cubicBezTo>
                      <a:pt x="29243" y="21364"/>
                      <a:pt x="55311" y="0"/>
                      <a:pt x="85584" y="7"/>
                    </a:cubicBezTo>
                    <a:lnTo>
                      <a:pt x="128764" y="7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416800" y="1905368"/>
                <a:ext cx="104011" cy="142026"/>
              </a:xfrm>
              <a:custGeom>
                <a:avLst/>
                <a:gdLst/>
                <a:ahLst/>
                <a:cxnLst/>
                <a:rect l="l" t="t" r="r" b="b"/>
                <a:pathLst>
                  <a:path w="104011" h="142026">
                    <a:moveTo>
                      <a:pt x="0" y="75832"/>
                    </a:moveTo>
                    <a:lnTo>
                      <a:pt x="51689" y="130238"/>
                    </a:lnTo>
                    <a:cubicBezTo>
                      <a:pt x="60630" y="139647"/>
                      <a:pt x="74707" y="142026"/>
                      <a:pt x="86245" y="136080"/>
                    </a:cubicBezTo>
                    <a:cubicBezTo>
                      <a:pt x="97782" y="130134"/>
                      <a:pt x="104011" y="117287"/>
                      <a:pt x="101536" y="104546"/>
                    </a:cubicBezTo>
                    <a:lnTo>
                      <a:pt x="81216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340600" y="19050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327900" y="19177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416800" y="19177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649718" y="1841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硬焦点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32142" y="2254568"/>
              <a:ext cx="33940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右摇杆驱动 · 词 → 句 → 段 → 节，逐级切换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7467600" y="2857500"/>
              <a:ext cx="3657600" cy="857250"/>
              <a:chOff x="7467600" y="2857500"/>
              <a:chExt cx="3657600" cy="8572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7467600" y="2857500"/>
                <a:ext cx="36576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AEAEB2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7467600" y="3105150"/>
                <a:ext cx="11430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AEAEB2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9563100" y="3105150"/>
                <a:ext cx="15621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AEAEB2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7467600" y="3352800"/>
                <a:ext cx="36576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AEAEB2"/>
              </a:solidFill>
              <a:ln>
                <a:noFill/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7467600" y="3600450"/>
                <a:ext cx="20955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AEAEB2"/>
              </a:solidFill>
              <a:ln>
                <a:noFill/>
              </a:ln>
            </p:spPr>
          </p:sp>
        </p:grpSp>
        <p:sp>
          <p:nvSpPr>
            <p:cNvPr id="52" name="Rectangle 52"/>
            <p:cNvSpPr/>
            <p:nvPr/>
          </p:nvSpPr>
          <p:spPr>
            <a:xfrm>
              <a:off x="8705850" y="3067050"/>
              <a:ext cx="762000" cy="190500"/>
            </a:xfrm>
            <a:prstGeom prst="roundRect">
              <a:avLst>
                <a:gd name="adj" fmla="val 25000"/>
              </a:avLst>
            </a:prstGeom>
            <a:solidFill>
              <a:srgbClr val="FACC1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629650" y="2990850"/>
              <a:ext cx="914400" cy="342900"/>
            </a:xfrm>
            <a:prstGeom prst="roundRect">
              <a:avLst>
                <a:gd name="adj" fmla="val 33333"/>
              </a:avLst>
            </a:pr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32904" y="390906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起步点：软焦点落点，或光环正吸着的那个词</a:t>
              </a:r>
            </a:p>
          </p:txBody>
        </p:sp>
      </p:grpSp>
      <p:sp>
        <p:nvSpPr>
          <p:cNvPr id="56" name="Freeform 56"/>
          <p:cNvSpPr/>
          <p:nvPr/>
        </p:nvSpPr>
        <p:spPr>
          <a:xfrm>
            <a:off x="5334000" y="2495550"/>
            <a:ext cx="1562100" cy="3810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7" name="Freeform 57"/>
          <p:cNvSpPr/>
          <p:nvPr/>
        </p:nvSpPr>
        <p:spPr>
          <a:xfrm>
            <a:off x="5334000" y="3219450"/>
            <a:ext cx="1562100" cy="381000"/>
          </a:xfrm>
          <a:prstGeom prst="leftArrow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0" name="switch-labels"/>
          <p:cNvGrpSpPr/>
          <p:nvPr/>
        </p:nvGrpSpPr>
        <p:grpSpPr>
          <a:xfrm>
            <a:off x="5524500" y="2232660"/>
            <a:ext cx="1143000" cy="1872996"/>
            <a:chOff x="5524500" y="2232660"/>
            <a:chExt cx="1143000" cy="1872996"/>
          </a:xfrm>
        </p:grpSpPr>
        <p:sp>
          <p:nvSpPr>
            <p:cNvPr id="58" name="TextBox 58"/>
            <p:cNvSpPr txBox="1"/>
            <p:nvPr/>
          </p:nvSpPr>
          <p:spPr>
            <a:xfrm>
              <a:off x="5524500" y="22326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第一次推右摇杆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548884" y="3680460"/>
              <a:ext cx="1094232" cy="4251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看别处 &gt; 0.8 秒</a:t>
              </a:r>
              <a:br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或按下右摇杆</a:t>
              </a:r>
            </a:p>
          </p:txBody>
        </p:sp>
      </p:grpSp>
      <p:grpSp>
        <p:nvGrpSpPr>
          <p:cNvPr id="64" name="detail-sides"/>
          <p:cNvGrpSpPr/>
          <p:nvPr/>
        </p:nvGrpSpPr>
        <p:grpSpPr>
          <a:xfrm>
            <a:off x="609600" y="4381500"/>
            <a:ext cx="3505200" cy="1600200"/>
            <a:chOff x="609600" y="4381500"/>
            <a:chExt cx="3505200" cy="1600200"/>
          </a:xfrm>
        </p:grpSpPr>
        <p:sp>
          <p:nvSpPr>
            <p:cNvPr id="61" name="Rectangle 61"/>
            <p:cNvSpPr/>
            <p:nvPr/>
          </p:nvSpPr>
          <p:spPr>
            <a:xfrm>
              <a:off x="609600" y="4381500"/>
              <a:ext cx="3505200" cy="1600200"/>
            </a:xfrm>
            <a:prstGeom prst="roundRect">
              <a:avLst>
                <a:gd name="adj" fmla="val 1190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0580" y="4581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左右分侧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1723" y="4929664"/>
              <a:ext cx="2451354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手柄 − / + 切换看左边内容还是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右边回答；看另一侧时焦点不动，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贴边 70pt 内的注视拉回本侧</a:t>
              </a:r>
            </a:p>
          </p:txBody>
        </p:sp>
      </p:grpSp>
      <p:grpSp>
        <p:nvGrpSpPr>
          <p:cNvPr id="68" name="detail-stick"/>
          <p:cNvGrpSpPr/>
          <p:nvPr/>
        </p:nvGrpSpPr>
        <p:grpSpPr>
          <a:xfrm>
            <a:off x="4343400" y="4381500"/>
            <a:ext cx="3505200" cy="1600200"/>
            <a:chOff x="4343400" y="4381500"/>
            <a:chExt cx="3505200" cy="1600200"/>
          </a:xfrm>
        </p:grpSpPr>
        <p:sp>
          <p:nvSpPr>
            <p:cNvPr id="65" name="Rectangle 65"/>
            <p:cNvSpPr/>
            <p:nvPr/>
          </p:nvSpPr>
          <p:spPr>
            <a:xfrm>
              <a:off x="4343400" y="4381500"/>
              <a:ext cx="3505200" cy="1600200"/>
            </a:xfrm>
            <a:prstGeom prst="roundRect">
              <a:avLst>
                <a:gd name="adj" fmla="val 1190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564380" y="4581525"/>
              <a:ext cx="1672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不轻易跳段 + 分词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65523" y="4929664"/>
              <a:ext cx="2475738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视线出段不超过 stick 仍算本段；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词 / 句用 Intl.Segmenter 切分，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中文按词典分词</a:t>
              </a:r>
            </a:p>
          </p:txBody>
        </p:sp>
      </p:grpSp>
      <p:grpSp>
        <p:nvGrpSpPr>
          <p:cNvPr id="72" name="detail-adapters"/>
          <p:cNvGrpSpPr/>
          <p:nvPr/>
        </p:nvGrpSpPr>
        <p:grpSpPr>
          <a:xfrm>
            <a:off x="8077200" y="4381500"/>
            <a:ext cx="3505200" cy="1600200"/>
            <a:chOff x="8077200" y="4381500"/>
            <a:chExt cx="3505200" cy="1600200"/>
          </a:xfrm>
        </p:grpSpPr>
        <p:sp>
          <p:nvSpPr>
            <p:cNvPr id="69" name="Rectangle 69"/>
            <p:cNvSpPr/>
            <p:nvPr/>
          </p:nvSpPr>
          <p:spPr>
            <a:xfrm>
              <a:off x="8077200" y="4381500"/>
              <a:ext cx="3505200" cy="1600200"/>
            </a:xfrm>
            <a:prstGeom prst="roundRect">
              <a:avLst>
                <a:gd name="adj" fmla="val 1190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298180" y="45815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三种视图适配器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99323" y="4929664"/>
              <a:ext cx="2687066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dom：Markdown / PDF / 对话气泡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terminal：xterm 终端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screen：截屏 + OCR + 辅助功能取词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73" name="Line 73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04266" y="6325552"/>
              <a:ext cx="6132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代码：focus/focus.ts · focus/domAdapter.ts · terminalAdapter.ts · screenAdapter.ts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chain-rail"/>
          <p:cNvGrpSpPr/>
          <p:nvPr/>
        </p:nvGrpSpPr>
        <p:grpSpPr>
          <a:xfrm>
            <a:off x="561975" y="123825"/>
            <a:ext cx="11068050" cy="437864"/>
            <a:chOff x="561975" y="123825"/>
            <a:chExt cx="11068050" cy="437864"/>
          </a:xfrm>
        </p:grpSpPr>
        <p:sp>
          <p:nvSpPr>
            <p:cNvPr id="2" name="Line 2"/>
            <p:cNvSpPr/>
            <p:nvPr/>
          </p:nvSpPr>
          <p:spPr>
            <a:xfrm>
              <a:off x="609600" y="2286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9753600" y="228600"/>
              <a:ext cx="1828800" cy="9525"/>
            </a:xfrm>
            <a:custGeom>
              <a:avLst/>
              <a:gdLst/>
              <a:ahLst/>
              <a:cxnLst/>
              <a:rect l="l" t="t" r="r" b="b"/>
              <a:pathLst>
                <a:path w="1828800" h="9525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5619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3907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42195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0483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8771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648825" y="123825"/>
              <a:ext cx="209550" cy="20955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696450" y="171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534775" y="1809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04647" y="370999"/>
              <a:ext cx="10982706" cy="190690"/>
              <a:chOff x="604647" y="370999"/>
              <a:chExt cx="10982706" cy="19069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604647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特征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3015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回归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303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校正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9591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平滑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7879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注视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05141" y="370999"/>
                <a:ext cx="69691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焦点 · 吸附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313592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决策</a:t>
                </a:r>
              </a:p>
            </p:txBody>
          </p:sp>
        </p:grpSp>
      </p:grpSp>
      <p:grpSp>
        <p:nvGrpSpPr>
          <p:cNvPr id="23" name="header"/>
          <p:cNvGrpSpPr/>
          <p:nvPr/>
        </p:nvGrpSpPr>
        <p:grpSpPr>
          <a:xfrm>
            <a:off x="595884" y="699135"/>
            <a:ext cx="7674235" cy="778954"/>
            <a:chOff x="595884" y="699135"/>
            <a:chExt cx="7674235" cy="778954"/>
          </a:xfrm>
        </p:grpSpPr>
        <p:sp>
          <p:nvSpPr>
            <p:cNvPr id="21" name="TextBox 21"/>
            <p:cNvSpPr txBox="1"/>
            <p:nvPr/>
          </p:nvSpPr>
          <p:spPr>
            <a:xfrm>
              <a:off x="595884" y="699135"/>
              <a:ext cx="7660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视线附近最像「值得问」的词，会把光环吸过去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1218" y="1155382"/>
              <a:ext cx="7668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关键词程度 × 距离衰减打分，迟滞防止来回跳，一个旋钮统一 9 个参数 · 自研</a:t>
              </a:r>
            </a:p>
          </p:txBody>
        </p:sp>
      </p:grpSp>
      <p:grpSp>
        <p:nvGrpSpPr>
          <p:cNvPr id="44" name="demo"/>
          <p:cNvGrpSpPr/>
          <p:nvPr/>
        </p:nvGrpSpPr>
        <p:grpSpPr>
          <a:xfrm>
            <a:off x="609600" y="1600200"/>
            <a:ext cx="4953000" cy="2819400"/>
            <a:chOff x="609600" y="1600200"/>
            <a:chExt cx="4953000" cy="2819400"/>
          </a:xfrm>
        </p:grpSpPr>
        <p:sp>
          <p:nvSpPr>
            <p:cNvPr id="24" name="Rectangle 24"/>
            <p:cNvSpPr/>
            <p:nvPr/>
          </p:nvSpPr>
          <p:spPr>
            <a:xfrm>
              <a:off x="609600" y="1600200"/>
              <a:ext cx="4953000" cy="2819400"/>
            </a:xfrm>
            <a:prstGeom prst="roundRect">
              <a:avLst>
                <a:gd name="adj" fmla="val 67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342" y="18164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示例：视线落在这两行附近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447800" y="2457450"/>
              <a:ext cx="1085850" cy="247650"/>
            </a:xfrm>
            <a:prstGeom prst="roundRect">
              <a:avLst>
                <a:gd name="adj" fmla="val 19231"/>
              </a:avLst>
            </a:prstGeom>
            <a:solidFill>
              <a:srgbClr val="FACC1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390650" y="2390775"/>
              <a:ext cx="1200150" cy="381000"/>
            </a:xfrm>
            <a:prstGeom prst="roundRect">
              <a:avLst>
                <a:gd name="adj" fmla="val 32500"/>
              </a:avLst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9818" y="2479358"/>
              <a:ext cx="40594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我们用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对偶岭回归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求解，特征 d ≈ 1650，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818" y="3146108"/>
              <a:ext cx="3133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再用 One Euro 滤波去掉抖动。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1366838" y="2833688"/>
              <a:ext cx="1762125" cy="219075"/>
              <a:chOff x="1366838" y="2833688"/>
              <a:chExt cx="1762125" cy="219075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1366838" y="2833688"/>
                <a:ext cx="47625" cy="47625"/>
              </a:xfrm>
              <a:prstGeom prst="ellipse">
                <a:avLst/>
              </a:prstGeom>
              <a:solidFill>
                <a:srgbClr val="8E8E93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1795462" y="2833688"/>
                <a:ext cx="47625" cy="47625"/>
              </a:xfrm>
              <a:prstGeom prst="ellipse">
                <a:avLst/>
              </a:prstGeom>
              <a:solidFill>
                <a:srgbClr val="8E8E93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2652712" y="2833688"/>
                <a:ext cx="47625" cy="47625"/>
              </a:xfrm>
              <a:prstGeom prst="ellipse">
                <a:avLst/>
              </a:prstGeom>
              <a:solidFill>
                <a:srgbClr val="8E8E93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3081338" y="2833688"/>
                <a:ext cx="47625" cy="47625"/>
              </a:xfrm>
              <a:prstGeom prst="ellipse">
                <a:avLst/>
              </a:prstGeom>
              <a:solidFill>
                <a:srgbClr val="8E8E93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1366838" y="3005138"/>
                <a:ext cx="47625" cy="47625"/>
              </a:xfrm>
              <a:prstGeom prst="ellipse">
                <a:avLst/>
              </a:prstGeom>
              <a:solidFill>
                <a:srgbClr val="8E8E93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1795462" y="3005138"/>
                <a:ext cx="47625" cy="47625"/>
              </a:xfrm>
              <a:prstGeom prst="ellipse">
                <a:avLst/>
              </a:prstGeom>
              <a:solidFill>
                <a:srgbClr val="8E8E93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2224088" y="3005138"/>
                <a:ext cx="47625" cy="47625"/>
              </a:xfrm>
              <a:prstGeom prst="ellipse">
                <a:avLst/>
              </a:prstGeom>
              <a:solidFill>
                <a:srgbClr val="8E8E93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2652712" y="3005138"/>
                <a:ext cx="47625" cy="47625"/>
              </a:xfrm>
              <a:prstGeom prst="ellipse">
                <a:avLst/>
              </a:prstGeom>
              <a:solidFill>
                <a:srgbClr val="8E8E93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3081338" y="3005138"/>
                <a:ext cx="47625" cy="47625"/>
              </a:xfrm>
              <a:prstGeom prst="ellipse">
                <a:avLst/>
              </a:prstGeom>
              <a:solidFill>
                <a:srgbClr val="8E8E93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40" name="Ellipse 40"/>
            <p:cNvSpPr/>
            <p:nvPr/>
          </p:nvSpPr>
          <p:spPr>
            <a:xfrm>
              <a:off x="2114550" y="2743200"/>
              <a:ext cx="266700" cy="2667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181225" y="2809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2104" y="3813810"/>
              <a:ext cx="4550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青点 = 视线，灰点 = 探测网格（caretRangeFromPoint 取词）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104" y="4080510"/>
              <a:ext cx="3618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「对偶岭回归」是术语、离得近 → W 最高，被吸住</a:t>
              </a:r>
            </a:p>
          </p:txBody>
        </p:sp>
      </p:grpSp>
      <p:grpSp>
        <p:nvGrpSpPr>
          <p:cNvPr id="67" name="scoring"/>
          <p:cNvGrpSpPr/>
          <p:nvPr/>
        </p:nvGrpSpPr>
        <p:grpSpPr>
          <a:xfrm>
            <a:off x="5791200" y="1600200"/>
            <a:ext cx="5791200" cy="2819400"/>
            <a:chOff x="5791200" y="1600200"/>
            <a:chExt cx="5791200" cy="2819400"/>
          </a:xfrm>
        </p:grpSpPr>
        <p:sp>
          <p:nvSpPr>
            <p:cNvPr id="45" name="Rectangle 45"/>
            <p:cNvSpPr/>
            <p:nvPr/>
          </p:nvSpPr>
          <p:spPr>
            <a:xfrm>
              <a:off x="5791200" y="1600200"/>
              <a:ext cx="5791200" cy="2819400"/>
            </a:xfrm>
            <a:prstGeom prst="roundRect">
              <a:avLst>
                <a:gd name="adj" fmla="val 67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12180" y="1800225"/>
              <a:ext cx="3563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关键词程度 kw（启发式打分，封顶 1）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6013323" y="2186464"/>
              <a:ext cx="5346954" cy="1106614"/>
              <a:chOff x="6013323" y="2186464"/>
              <a:chExt cx="5346954" cy="1106614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6013323" y="2186464"/>
                <a:ext cx="135244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缩写 MDP、LLMs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191290" y="2186464"/>
                <a:ext cx="31148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0.9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013323" y="2472214"/>
                <a:ext cx="154703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字母 + 数字 GPT-4o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091779" y="2472214"/>
                <a:ext cx="4109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0.85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013323" y="2757964"/>
                <a:ext cx="126488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驼峰 CamelCase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091779" y="2757964"/>
                <a:ext cx="4109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0.85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013323" y="3043714"/>
                <a:ext cx="182224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连字符 self-attention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091779" y="3043714"/>
                <a:ext cx="4109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0.72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870823" y="2186464"/>
                <a:ext cx="87452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中文 ≥ 4 字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048790" y="2186464"/>
                <a:ext cx="31148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0.8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870823" y="2472214"/>
                <a:ext cx="124561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KaTeX 公式整块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0949279" y="2472214"/>
                <a:ext cx="4109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0.95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870823" y="2757964"/>
                <a:ext cx="161547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加粗 / 代码 / 标题里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0949279" y="2757964"/>
                <a:ext cx="4109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+0.4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870823" y="3043714"/>
                <a:ext cx="104683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中英文停用词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1247812" y="30437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8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</p:grpSp>
        <p:sp>
          <p:nvSpPr>
            <p:cNvPr id="64" name="Line 64"/>
            <p:cNvSpPr/>
            <p:nvPr/>
          </p:nvSpPr>
          <p:spPr>
            <a:xfrm>
              <a:off x="6019800" y="33909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013704" y="3528060"/>
              <a:ext cx="3469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综合权重（d = 视线到词框距离，r = 吸附半径）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formula-magnet"/>
                <p:cNvSpPr txBox="1">
                  <a:spLocks noGrp="1"/>
                </p:cNvSpPr>
                <p:nvPr/>
              </p:nvSpPr>
              <p:spPr>
                <a:xfrm>
                  <a:off x="6019800" y="3752850"/>
                  <a:ext cx="53340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kw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min</m:t>
                                    </m:r>
                                  </m:fName>
                                  <m:e>
                                    <m:sSup>
                                      <m:e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800" dirty="0">
                                                <a:solidFill>
                                                  <a:srgbClr val="1D1D1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800" dirty="0">
                                                <a:solidFill>
                                                  <a:srgbClr val="1D1D1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800" dirty="0">
                                                <a:solidFill>
                                                  <a:srgbClr val="1D1D1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,</m:t>
                                            </m:r>
                                            <m:f>
                                              <m:fPr>
                                                <m:type m:val="bar"/>
                                                <m:ctrlPr>
                                                  <a:rPr lang="zh-CN" sz="1800" dirty="0">
                                                    <a:solidFill>
                                                      <a:srgbClr val="1D1D1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zh-CN" sz="1800" dirty="0">
                                                    <a:solidFill>
                                                      <a:srgbClr val="1D1D1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d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zh-CN" sz="1800" dirty="0">
                                                    <a:solidFill>
                                                      <a:srgbClr val="1D1D1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r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zh-CN" sz="1800" dirty="0">
                                            <a:solidFill>
                                              <a:srgbClr val="1D1D1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1.5</m:t>
                                        </m:r>
                                      </m:sup>
                                    </m:sSup>
                                  </m:e>
                                </m:func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71" name="hysteresis"/>
          <p:cNvGrpSpPr/>
          <p:nvPr/>
        </p:nvGrpSpPr>
        <p:grpSpPr>
          <a:xfrm>
            <a:off x="609600" y="4610100"/>
            <a:ext cx="4953000" cy="1371600"/>
            <a:chOff x="609600" y="4610100"/>
            <a:chExt cx="4953000" cy="1371600"/>
          </a:xfrm>
        </p:grpSpPr>
        <p:sp>
          <p:nvSpPr>
            <p:cNvPr id="68" name="Rectangle 68"/>
            <p:cNvSpPr/>
            <p:nvPr/>
          </p:nvSpPr>
          <p:spPr>
            <a:xfrm>
              <a:off x="609600" y="4610100"/>
              <a:ext cx="4953000" cy="1371600"/>
            </a:xfrm>
            <a:prstGeom prst="roundRect">
              <a:avLst>
                <a:gd name="adj" fmla="val 138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30580" y="48101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迟滞与扫视抑制（防来回跳）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1723" y="5158264"/>
              <a:ext cx="2995930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新词得分要高出 switchRatio 倍才换过去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视线离开超过 release 才松开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视线速度超过 saccade 时先不吸</a:t>
              </a:r>
            </a:p>
          </p:txBody>
        </p:sp>
      </p:grpSp>
      <p:grpSp>
        <p:nvGrpSpPr>
          <p:cNvPr id="85" name="one-knob"/>
          <p:cNvGrpSpPr/>
          <p:nvPr/>
        </p:nvGrpSpPr>
        <p:grpSpPr>
          <a:xfrm>
            <a:off x="5791200" y="4610100"/>
            <a:ext cx="5791200" cy="1371600"/>
            <a:chOff x="5791200" y="4610100"/>
            <a:chExt cx="5791200" cy="1371600"/>
          </a:xfrm>
        </p:grpSpPr>
        <p:sp>
          <p:nvSpPr>
            <p:cNvPr id="72" name="Rectangle 72"/>
            <p:cNvSpPr/>
            <p:nvPr/>
          </p:nvSpPr>
          <p:spPr>
            <a:xfrm>
              <a:off x="5791200" y="4610100"/>
              <a:ext cx="5791200" cy="1371600"/>
            </a:xfrm>
            <a:prstGeom prst="roundRect">
              <a:avLst>
                <a:gd name="adj" fmla="val 13889"/>
              </a:avLst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6064250" y="4806950"/>
              <a:ext cx="177801" cy="177801"/>
              <a:chOff x="6064250" y="4806950"/>
              <a:chExt cx="177801" cy="177801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153150" y="48069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064250" y="4829175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197601" y="4829175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086475" y="48736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064250" y="4895850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130925" y="489585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186488" y="494030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064250" y="4962526"/>
                <a:ext cx="1222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9525">
                    <a:moveTo>
                      <a:pt x="0" y="0"/>
                    </a:moveTo>
                    <a:lnTo>
                      <a:pt x="12223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230938" y="4962526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6374130" y="4810125"/>
              <a:ext cx="33167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单旋钮：强度 k ∈ [0, 1]，默认 0.7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013323" y="5158264"/>
              <a:ext cx="4458970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半径 r = 40 + 100k　门槛 = 0.65 − 0.5k　stick = 10 + 50k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saccade = 900(0.5 + 1.25k)　release = 110(0.5 + 1.25k)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switchRatio = 1.3 + (k − 0.4)　……共 9 个参数线性联动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86" name="Line 86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04266" y="6325552"/>
              <a:ext cx="6340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代码：focus/magnet.ts → keywordness() / keywordNear() · focus/snap.ts → snapParams()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chain-rail"/>
          <p:cNvGrpSpPr/>
          <p:nvPr/>
        </p:nvGrpSpPr>
        <p:grpSpPr>
          <a:xfrm>
            <a:off x="561975" y="123825"/>
            <a:ext cx="11068050" cy="437864"/>
            <a:chOff x="561975" y="123825"/>
            <a:chExt cx="11068050" cy="437864"/>
          </a:xfrm>
        </p:grpSpPr>
        <p:sp>
          <p:nvSpPr>
            <p:cNvPr id="2" name="Line 2"/>
            <p:cNvSpPr/>
            <p:nvPr/>
          </p:nvSpPr>
          <p:spPr>
            <a:xfrm>
              <a:off x="609600" y="2286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9753600" y="228600"/>
              <a:ext cx="1828800" cy="9525"/>
            </a:xfrm>
            <a:custGeom>
              <a:avLst/>
              <a:gdLst/>
              <a:ahLst/>
              <a:cxnLst/>
              <a:rect l="l" t="t" r="r" b="b"/>
              <a:pathLst>
                <a:path w="1828800" h="9525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5619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3907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42195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0483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877175" y="180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648825" y="123825"/>
              <a:ext cx="209550" cy="20955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696450" y="171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534775" y="180975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04647" y="370999"/>
              <a:ext cx="10982706" cy="190690"/>
              <a:chOff x="604647" y="370999"/>
              <a:chExt cx="10982706" cy="19069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604647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特征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3015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回归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303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校正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9591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平滑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7879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注视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05141" y="370999"/>
                <a:ext cx="69691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焦点 · 吸附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313592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决策</a:t>
                </a:r>
              </a:p>
            </p:txBody>
          </p:sp>
        </p:grpSp>
      </p:grpSp>
      <p:grpSp>
        <p:nvGrpSpPr>
          <p:cNvPr id="23" name="header"/>
          <p:cNvGrpSpPr/>
          <p:nvPr/>
        </p:nvGrpSpPr>
        <p:grpSpPr>
          <a:xfrm>
            <a:off x="595884" y="699135"/>
            <a:ext cx="7296912" cy="778954"/>
            <a:chOff x="595884" y="699135"/>
            <a:chExt cx="7296912" cy="778954"/>
          </a:xfrm>
        </p:grpSpPr>
        <p:sp>
          <p:nvSpPr>
            <p:cNvPr id="21" name="TextBox 21"/>
            <p:cNvSpPr txBox="1"/>
            <p:nvPr/>
          </p:nvSpPr>
          <p:spPr>
            <a:xfrm>
              <a:off x="595884" y="699135"/>
              <a:ext cx="72969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光环是一团果冻：会拉伸、会回弹、会包住词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1218" y="1155382"/>
              <a:ext cx="64250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质点—弹簧模型 + 超椭圆，让「吸住了哪个词」一眼看得见 · 自研</a:t>
              </a:r>
            </a:p>
          </p:txBody>
        </p:sp>
      </p:grpSp>
      <p:grpSp>
        <p:nvGrpSpPr>
          <p:cNvPr id="44" name="state-rest"/>
          <p:cNvGrpSpPr/>
          <p:nvPr/>
        </p:nvGrpSpPr>
        <p:grpSpPr>
          <a:xfrm>
            <a:off x="1456563" y="2524125"/>
            <a:ext cx="1963674" cy="2445353"/>
            <a:chOff x="1456563" y="2524125"/>
            <a:chExt cx="1963674" cy="2445353"/>
          </a:xfrm>
        </p:grpSpPr>
        <p:sp>
          <p:nvSpPr>
            <p:cNvPr id="24" name="Ellipse 24"/>
            <p:cNvSpPr/>
            <p:nvPr/>
          </p:nvSpPr>
          <p:spPr>
            <a:xfrm>
              <a:off x="1847850" y="2552700"/>
              <a:ext cx="1181100" cy="1181100"/>
            </a:xfrm>
            <a:prstGeom prst="ellipse">
              <a:avLst/>
            </a:prstGeom>
            <a:solidFill>
              <a:schemeClr val="accent2">
                <a:alpha val="14000"/>
              </a:schemeClr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1819275" y="2524125"/>
              <a:ext cx="1238250" cy="1238250"/>
              <a:chOff x="1819275" y="2524125"/>
              <a:chExt cx="1238250" cy="123825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3000375" y="311467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2952750" y="336232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2828925" y="357187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2638425" y="3695700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2409825" y="370522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2181225" y="3695700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1990725" y="357187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1866900" y="336232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1819275" y="311467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1866900" y="286702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1990725" y="265747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2181225" y="2533650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2409825" y="252412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2638425" y="2533650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2828925" y="265747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2952750" y="2867025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985772" y="4127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盯住：圆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56563" y="4491514"/>
              <a:ext cx="1963674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36 个节点各自用弹簧</a:t>
              </a:r>
              <a:br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追静止位置，轻轻「呼吸」</a:t>
              </a:r>
            </a:p>
          </p:txBody>
        </p:sp>
      </p:grpSp>
      <p:grpSp>
        <p:nvGrpSpPr>
          <p:cNvPr id="49" name="state-saccade"/>
          <p:cNvGrpSpPr/>
          <p:nvPr/>
        </p:nvGrpSpPr>
        <p:grpSpPr>
          <a:xfrm>
            <a:off x="4819650" y="2609850"/>
            <a:ext cx="2514600" cy="2359628"/>
            <a:chOff x="4819650" y="2609850"/>
            <a:chExt cx="2514600" cy="2359628"/>
          </a:xfrm>
        </p:grpSpPr>
        <p:sp>
          <p:nvSpPr>
            <p:cNvPr id="45" name="Freeform 45"/>
            <p:cNvSpPr/>
            <p:nvPr/>
          </p:nvSpPr>
          <p:spPr>
            <a:xfrm>
              <a:off x="4819650" y="2609850"/>
              <a:ext cx="1847850" cy="1066800"/>
            </a:xfrm>
            <a:custGeom>
              <a:avLst/>
              <a:gdLst/>
              <a:ahLst/>
              <a:cxnLst/>
              <a:rect l="l" t="t" r="r" b="b"/>
              <a:pathLst>
                <a:path w="1847850" h="1066800">
                  <a:moveTo>
                    <a:pt x="1847850" y="533400"/>
                  </a:moveTo>
                  <a:cubicBezTo>
                    <a:pt x="1847850" y="895350"/>
                    <a:pt x="1543050" y="1066800"/>
                    <a:pt x="1200150" y="1047750"/>
                  </a:cubicBezTo>
                  <a:cubicBezTo>
                    <a:pt x="800100" y="1028700"/>
                    <a:pt x="266700" y="781050"/>
                    <a:pt x="0" y="533400"/>
                  </a:cubicBezTo>
                  <a:cubicBezTo>
                    <a:pt x="266700" y="285750"/>
                    <a:pt x="800100" y="38100"/>
                    <a:pt x="1200150" y="19050"/>
                  </a:cubicBezTo>
                  <a:cubicBezTo>
                    <a:pt x="1543050" y="0"/>
                    <a:pt x="1847850" y="171450"/>
                    <a:pt x="1847850" y="533400"/>
                  </a:cubicBezTo>
                  <a:close/>
                </a:path>
              </a:pathLst>
            </a:custGeom>
            <a:solidFill>
              <a:schemeClr val="accent2">
                <a:alpha val="14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6781800" y="3143250"/>
              <a:ext cx="552450" cy="1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532311" y="41271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扫视：泪滴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76723" y="4491514"/>
              <a:ext cx="1638554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前沿弹簧硬、尾巴软，</a:t>
              </a:r>
              <a:br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尾巴最多拖出 42px</a:t>
              </a:r>
            </a:p>
          </p:txBody>
        </p:sp>
      </p:grpSp>
      <p:grpSp>
        <p:nvGrpSpPr>
          <p:cNvPr id="55" name="state-snap"/>
          <p:cNvGrpSpPr/>
          <p:nvPr/>
        </p:nvGrpSpPr>
        <p:grpSpPr>
          <a:xfrm>
            <a:off x="9015603" y="2876550"/>
            <a:ext cx="1475994" cy="2092928"/>
            <a:chOff x="9015603" y="2876550"/>
            <a:chExt cx="1475994" cy="2092928"/>
          </a:xfrm>
        </p:grpSpPr>
        <p:sp>
          <p:nvSpPr>
            <p:cNvPr id="50" name="Rectangle 50"/>
            <p:cNvSpPr/>
            <p:nvPr/>
          </p:nvSpPr>
          <p:spPr>
            <a:xfrm>
              <a:off x="9182100" y="3009900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FACC1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241155" y="30480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对偶岭回归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048750" y="2876550"/>
              <a:ext cx="1409700" cy="533400"/>
            </a:xfrm>
            <a:prstGeom prst="roundRect">
              <a:avLst>
                <a:gd name="adj" fmla="val 39286"/>
              </a:avLst>
            </a:prstGeom>
            <a:solidFill>
              <a:schemeClr val="accent2">
                <a:alpha val="12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078849" y="41271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吸住：超椭圆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15603" y="4491514"/>
              <a:ext cx="1475994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从圆渐变成包住词的</a:t>
              </a:r>
              <a:br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连续圆角框</a:t>
              </a:r>
            </a:p>
          </p:txBody>
        </p:sp>
      </p:grpSp>
      <p:grpSp>
        <p:nvGrpSpPr>
          <p:cNvPr id="59" name="physics"/>
          <p:cNvGrpSpPr/>
          <p:nvPr/>
        </p:nvGrpSpPr>
        <p:grpSpPr>
          <a:xfrm>
            <a:off x="609600" y="5219700"/>
            <a:ext cx="10972800" cy="800100"/>
            <a:chOff x="609600" y="5219700"/>
            <a:chExt cx="10972800" cy="800100"/>
          </a:xfrm>
        </p:grpSpPr>
        <p:sp>
          <p:nvSpPr>
            <p:cNvPr id="56" name="Rectangle 56"/>
            <p:cNvSpPr/>
            <p:nvPr/>
          </p:nvSpPr>
          <p:spPr>
            <a:xfrm>
              <a:off x="609600" y="5219700"/>
              <a:ext cx="10972800" cy="800100"/>
            </a:xfrm>
            <a:prstGeom prst="roundRect">
              <a:avLst>
                <a:gd name="adj" fmla="val 23810"/>
              </a:avLst>
            </a:prstGeom>
            <a:solidFill>
              <a:schemeClr val="lt2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formula-superellipse"/>
                <p:cNvSpPr txBox="1">
                  <a:spLocks noGrp="1"/>
                </p:cNvSpPr>
                <p:nvPr/>
              </p:nvSpPr>
              <p:spPr>
                <a:xfrm>
                  <a:off x="838200" y="5334000"/>
                  <a:ext cx="28575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s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num>
                                  <m:den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D1D1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num>
                                  <m:den>
                                    <m:r>
                                      <a:rPr lang="zh-CN" sz="180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h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800" dirty="0">
                                <a:solidFill>
                                  <a:srgbClr val="1D1D1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D1D1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8" name="TextBox 58"/>
            <p:cNvSpPr txBox="1"/>
            <p:nvPr/>
          </p:nvSpPr>
          <p:spPr>
            <a:xfrm>
              <a:off x="3803523" y="5424964"/>
              <a:ext cx="7108698" cy="497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圆心弹簧 k = 220、阻尼比 0.92（几乎不过冲）；节点 k = max(45, 170(1 + 0.9ℓ))，阻尼比 0.5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ℓ = 节点朝向与运动方向的一致度 · 每帧 2 次子步积分 · n = 5 接近 iOS 连续圆角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60" name="Line 60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4266" y="6325552"/>
              <a:ext cx="36647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代码：gaze/blob.ts → GazeBlob · gaze/GazeLayer.tsx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chain-rail"/>
          <p:cNvGrpSpPr/>
          <p:nvPr/>
        </p:nvGrpSpPr>
        <p:grpSpPr>
          <a:xfrm>
            <a:off x="561975" y="123825"/>
            <a:ext cx="11125200" cy="437864"/>
            <a:chOff x="561975" y="123825"/>
            <a:chExt cx="11125200" cy="437864"/>
          </a:xfrm>
        </p:grpSpPr>
        <p:sp>
          <p:nvSpPr>
            <p:cNvPr id="2" name="Line 2"/>
            <p:cNvSpPr/>
            <p:nvPr/>
          </p:nvSpPr>
          <p:spPr>
            <a:xfrm>
              <a:off x="609600" y="228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561975" y="180975"/>
              <a:ext cx="9239250" cy="95250"/>
              <a:chOff x="561975" y="180975"/>
              <a:chExt cx="9239250" cy="9525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561975" y="1809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Ellipse 4"/>
              <p:cNvSpPr/>
              <p:nvPr/>
            </p:nvSpPr>
            <p:spPr>
              <a:xfrm>
                <a:off x="2390775" y="1809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4219575" y="1809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Ellipse 6"/>
              <p:cNvSpPr/>
              <p:nvPr/>
            </p:nvSpPr>
            <p:spPr>
              <a:xfrm>
                <a:off x="6048375" y="1809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7877175" y="1809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705975" y="1809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0" name="Ellipse 10"/>
            <p:cNvSpPr/>
            <p:nvPr/>
          </p:nvSpPr>
          <p:spPr>
            <a:xfrm>
              <a:off x="11477625" y="123825"/>
              <a:ext cx="209550" cy="209550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525250" y="1714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04647" y="370999"/>
              <a:ext cx="10982706" cy="190690"/>
              <a:chOff x="604647" y="370999"/>
              <a:chExt cx="10982706" cy="19069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604647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特征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3015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回归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303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校正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9591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平滑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7879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注视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08933" y="370999"/>
                <a:ext cx="6893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焦点 · 吸附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313592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决策</a:t>
                </a:r>
              </a:p>
            </p:txBody>
          </p:sp>
        </p:grpSp>
      </p:grpSp>
      <p:grpSp>
        <p:nvGrpSpPr>
          <p:cNvPr id="23" name="header"/>
          <p:cNvGrpSpPr/>
          <p:nvPr/>
        </p:nvGrpSpPr>
        <p:grpSpPr>
          <a:xfrm>
            <a:off x="595884" y="699135"/>
            <a:ext cx="8750808" cy="778954"/>
            <a:chOff x="595884" y="699135"/>
            <a:chExt cx="8750808" cy="778954"/>
          </a:xfrm>
        </p:grpSpPr>
        <p:sp>
          <p:nvSpPr>
            <p:cNvPr id="21" name="TextBox 21"/>
            <p:cNvSpPr txBox="1"/>
            <p:nvPr/>
          </p:nvSpPr>
          <p:spPr>
            <a:xfrm>
              <a:off x="595884" y="699135"/>
              <a:ext cx="875080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先判断，再开口：便宜的判断放前面，贵的生成放后面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1218" y="1155382"/>
              <a:ext cx="6044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Jev 模式的三级级联，控制调用成本，也控制打扰 · 自研设计</a:t>
              </a:r>
            </a:p>
          </p:txBody>
        </p:sp>
      </p:grpSp>
      <p:grpSp>
        <p:nvGrpSpPr>
          <p:cNvPr id="27" name="tier-local"/>
          <p:cNvGrpSpPr/>
          <p:nvPr/>
        </p:nvGrpSpPr>
        <p:grpSpPr>
          <a:xfrm>
            <a:off x="609600" y="1600200"/>
            <a:ext cx="5105400" cy="914400"/>
            <a:chOff x="609600" y="1600200"/>
            <a:chExt cx="5105400" cy="914400"/>
          </a:xfrm>
        </p:grpSpPr>
        <p:sp>
          <p:nvSpPr>
            <p:cNvPr id="24" name="Rectangle 24"/>
            <p:cNvSpPr/>
            <p:nvPr/>
          </p:nvSpPr>
          <p:spPr>
            <a:xfrm>
              <a:off x="609600" y="1600200"/>
              <a:ext cx="5105400" cy="914400"/>
            </a:xfrm>
            <a:prstGeom prst="roundRect">
              <a:avLst>
                <a:gd name="adj" fmla="val 208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0580" y="1781175"/>
              <a:ext cx="20128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本地规则（零成本）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1723" y="2129314"/>
              <a:ext cx="4682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段落太短不管 · 停留 &lt; 1.5 秒不分析 · 同段 20 秒最多问一次</a:t>
              </a:r>
            </a:p>
          </p:txBody>
        </p:sp>
      </p:grpSp>
      <p:grpSp>
        <p:nvGrpSpPr>
          <p:cNvPr id="29" name="arrow-12"/>
          <p:cNvGrpSpPr/>
          <p:nvPr/>
        </p:nvGrpSpPr>
        <p:grpSpPr>
          <a:xfrm>
            <a:off x="3162300" y="2533650"/>
            <a:ext cx="1" cy="190500"/>
            <a:chOff x="3162300" y="2533650"/>
            <a:chExt cx="1" cy="190500"/>
          </a:xfrm>
        </p:grpSpPr>
        <p:sp>
          <p:nvSpPr>
            <p:cNvPr id="28" name="Line 28"/>
            <p:cNvSpPr/>
            <p:nvPr/>
          </p:nvSpPr>
          <p:spPr>
            <a:xfrm>
              <a:off x="3162300" y="2533650"/>
              <a:ext cx="1" cy="1905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</p:grpSp>
      <p:grpSp>
        <p:nvGrpSpPr>
          <p:cNvPr id="33" name="tier-jev"/>
          <p:cNvGrpSpPr/>
          <p:nvPr/>
        </p:nvGrpSpPr>
        <p:grpSpPr>
          <a:xfrm>
            <a:off x="990600" y="2762250"/>
            <a:ext cx="4343400" cy="914400"/>
            <a:chOff x="990600" y="2762250"/>
            <a:chExt cx="4343400" cy="914400"/>
          </a:xfrm>
        </p:grpSpPr>
        <p:sp>
          <p:nvSpPr>
            <p:cNvPr id="30" name="Rectangle 30"/>
            <p:cNvSpPr/>
            <p:nvPr/>
          </p:nvSpPr>
          <p:spPr>
            <a:xfrm>
              <a:off x="990600" y="2762250"/>
              <a:ext cx="4343400" cy="914400"/>
            </a:xfrm>
            <a:prstGeom prst="roundRect">
              <a:avLst>
                <a:gd name="adj" fmla="val 20833"/>
              </a:avLst>
            </a:prstGeom>
            <a:solidFill>
              <a:schemeClr val="accent3">
                <a:alpha val="12000"/>
              </a:scheme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11580" y="2943225"/>
              <a:ext cx="30432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② Jev 判断（便宜，只做选择题）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12723" y="3291364"/>
              <a:ext cx="39072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难不难 · 卡住没 · 意图 · 要不要看图 · 要不要核实</a:t>
              </a:r>
            </a:p>
          </p:txBody>
        </p:sp>
      </p:grpSp>
      <p:grpSp>
        <p:nvGrpSpPr>
          <p:cNvPr id="35" name="arrow-23"/>
          <p:cNvGrpSpPr/>
          <p:nvPr/>
        </p:nvGrpSpPr>
        <p:grpSpPr>
          <a:xfrm>
            <a:off x="3162300" y="3695700"/>
            <a:ext cx="1" cy="190500"/>
            <a:chOff x="3162300" y="3695700"/>
            <a:chExt cx="1" cy="190500"/>
          </a:xfrm>
        </p:grpSpPr>
        <p:sp>
          <p:nvSpPr>
            <p:cNvPr id="34" name="Line 34"/>
            <p:cNvSpPr/>
            <p:nvPr/>
          </p:nvSpPr>
          <p:spPr>
            <a:xfrm>
              <a:off x="3162300" y="3695700"/>
              <a:ext cx="1" cy="1905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</p:grpSp>
      <p:grpSp>
        <p:nvGrpSpPr>
          <p:cNvPr id="39" name="tier-llm"/>
          <p:cNvGrpSpPr/>
          <p:nvPr/>
        </p:nvGrpSpPr>
        <p:grpSpPr>
          <a:xfrm>
            <a:off x="1371600" y="3924300"/>
            <a:ext cx="3581400" cy="914400"/>
            <a:chOff x="1371600" y="3924300"/>
            <a:chExt cx="3581400" cy="914400"/>
          </a:xfrm>
        </p:grpSpPr>
        <p:sp>
          <p:nvSpPr>
            <p:cNvPr id="36" name="Rectangle 36"/>
            <p:cNvSpPr/>
            <p:nvPr/>
          </p:nvSpPr>
          <p:spPr>
            <a:xfrm>
              <a:off x="1371600" y="3924300"/>
              <a:ext cx="3581400" cy="914400"/>
            </a:xfrm>
            <a:prstGeom prst="roundRect">
              <a:avLst>
                <a:gd name="adj" fmla="val 20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592580" y="4105275"/>
              <a:ext cx="26186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大模型（贵，真正写回答）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93723" y="4453414"/>
              <a:ext cx="21311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 Jev 判断需要时才调用</a:t>
              </a:r>
            </a:p>
          </p:txBody>
        </p:sp>
      </p:grpSp>
      <p:grpSp>
        <p:nvGrpSpPr>
          <p:cNvPr id="43" name="cost"/>
          <p:cNvGrpSpPr/>
          <p:nvPr/>
        </p:nvGrpSpPr>
        <p:grpSpPr>
          <a:xfrm>
            <a:off x="609600" y="5029200"/>
            <a:ext cx="5105400" cy="968978"/>
            <a:chOff x="609600" y="5029200"/>
            <a:chExt cx="5105400" cy="968978"/>
          </a:xfrm>
        </p:grpSpPr>
        <p:sp>
          <p:nvSpPr>
            <p:cNvPr id="40" name="Rectangle 40"/>
            <p:cNvSpPr/>
            <p:nvPr/>
          </p:nvSpPr>
          <p:spPr>
            <a:xfrm>
              <a:off x="609600" y="5029200"/>
              <a:ext cx="5105400" cy="9525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1342" y="5188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成本兜底（主进程）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1723" y="5520214"/>
              <a:ext cx="2678938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内容哈希缓存最多 800 条 · 按天记账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超过每日 token 上限直接拒绝</a:t>
              </a:r>
            </a:p>
          </p:txBody>
        </p:sp>
      </p:grpSp>
      <p:grpSp>
        <p:nvGrpSpPr>
          <p:cNvPr id="56" name="stuck"/>
          <p:cNvGrpSpPr/>
          <p:nvPr/>
        </p:nvGrpSpPr>
        <p:grpSpPr>
          <a:xfrm>
            <a:off x="6019800" y="1600200"/>
            <a:ext cx="5562600" cy="2552700"/>
            <a:chOff x="6019800" y="1600200"/>
            <a:chExt cx="5562600" cy="2552700"/>
          </a:xfrm>
        </p:grpSpPr>
        <p:sp>
          <p:nvSpPr>
            <p:cNvPr id="44" name="Rectangle 44"/>
            <p:cNvSpPr/>
            <p:nvPr/>
          </p:nvSpPr>
          <p:spPr>
            <a:xfrm>
              <a:off x="6019800" y="1600200"/>
              <a:ext cx="5562600" cy="25527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40780" y="18002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例子：读者是不是卡住了？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6248400" y="2171700"/>
              <a:ext cx="228600" cy="1727359"/>
              <a:chOff x="6248400" y="2171700"/>
              <a:chExt cx="228600" cy="1727359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6248400" y="2171700"/>
                <a:ext cx="228600" cy="228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313449" y="2212181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6248400" y="2781300"/>
                <a:ext cx="228600" cy="228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313449" y="2821781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6248400" y="3638550"/>
                <a:ext cx="228600" cy="228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313449" y="3679031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6584823" y="2205514"/>
              <a:ext cx="2906522" cy="477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停留 ≥ 9 秒或回看 ≥ 3 次，且难度 ≥ 1.4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本地先判为「疑似卡住」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84823" y="2815114"/>
              <a:ext cx="3743706" cy="7065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数字先分档成文字再交给 Jev（它读数字不可靠）：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停留 &lt; 3 秒「很短」· 3–8 秒「正常」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8–20 秒「偏长」· &gt; 20 秒「很长」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84823" y="3672364"/>
              <a:ext cx="31726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Jev 给出的概率 ≥ 0.65，才主动弹出解释</a:t>
              </a:r>
            </a:p>
          </p:txBody>
        </p:sp>
      </p:grpSp>
      <p:grpSp>
        <p:nvGrpSpPr>
          <p:cNvPr id="61" name="coref"/>
          <p:cNvGrpSpPr/>
          <p:nvPr/>
        </p:nvGrpSpPr>
        <p:grpSpPr>
          <a:xfrm>
            <a:off x="6019800" y="4305300"/>
            <a:ext cx="5562600" cy="1676400"/>
            <a:chOff x="6019800" y="4305300"/>
            <a:chExt cx="5562600" cy="1676400"/>
          </a:xfrm>
        </p:grpSpPr>
        <p:sp>
          <p:nvSpPr>
            <p:cNvPr id="57" name="Rectangle 57"/>
            <p:cNvSpPr/>
            <p:nvPr/>
          </p:nvSpPr>
          <p:spPr>
            <a:xfrm>
              <a:off x="6019800" y="4305300"/>
              <a:ext cx="5562600" cy="1676400"/>
            </a:xfrm>
            <a:prstGeom prst="roundRect">
              <a:avLst>
                <a:gd name="adj" fmla="val 11364"/>
              </a:avLst>
            </a:prstGeom>
            <a:solidFill>
              <a:schemeClr val="accent3">
                <a:alpha val="8000"/>
              </a:schemeClr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6270358" y="4512588"/>
              <a:ext cx="221851" cy="196658"/>
            </a:xfrm>
            <a:custGeom>
              <a:avLst/>
              <a:gdLst/>
              <a:ahLst/>
              <a:cxnLst/>
              <a:rect l="l" t="t" r="r" b="b"/>
              <a:pathLst>
                <a:path w="221851" h="196658">
                  <a:moveTo>
                    <a:pt x="11379" y="186413"/>
                  </a:moveTo>
                  <a:lnTo>
                    <a:pt x="25826" y="143074"/>
                  </a:lnTo>
                  <a:cubicBezTo>
                    <a:pt x="0" y="104880"/>
                    <a:pt x="9979" y="55596"/>
                    <a:pt x="49162" y="27792"/>
                  </a:cubicBezTo>
                  <a:cubicBezTo>
                    <a:pt x="88345" y="0"/>
                    <a:pt x="144618" y="2278"/>
                    <a:pt x="180790" y="33126"/>
                  </a:cubicBezTo>
                  <a:cubicBezTo>
                    <a:pt x="216961" y="63986"/>
                    <a:pt x="221851" y="113870"/>
                    <a:pt x="192225" y="149819"/>
                  </a:cubicBezTo>
                  <a:cubicBezTo>
                    <a:pt x="162599" y="185768"/>
                    <a:pt x="107603" y="196658"/>
                    <a:pt x="63608" y="175300"/>
                  </a:cubicBezTo>
                  <a:lnTo>
                    <a:pt x="11379" y="186413"/>
                  </a:lnTo>
                </a:path>
              </a:pathLst>
            </a:custGeom>
            <a:noFill/>
            <a:ln w="22225">
              <a:solidFill>
                <a:schemeClr val="accent3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02730" y="45243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指代消解：用语言补视线的精度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41923" y="4891564"/>
              <a:ext cx="3711194" cy="935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你说「这句什么意思」，视线只到段落 →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段落拆成候选句，Jev 结合原话挑出是哪一句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意图路由：解释 / 翻译 / 总结 / 推导 / 批判 / 其他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把握度低就不改写，按你的原话回答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62" name="Line 62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4266" y="6325552"/>
              <a:ext cx="58782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代码：jev/jevBrain.ts → onDwell() / routeQuestion() / candidatesOf() · main/jev.ts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chain-rail"/>
          <p:cNvGrpSpPr/>
          <p:nvPr/>
        </p:nvGrpSpPr>
        <p:grpSpPr>
          <a:xfrm>
            <a:off x="561975" y="180975"/>
            <a:ext cx="11068050" cy="380714"/>
            <a:chOff x="561975" y="180975"/>
            <a:chExt cx="11068050" cy="380714"/>
          </a:xfrm>
        </p:grpSpPr>
        <p:sp>
          <p:nvSpPr>
            <p:cNvPr id="2" name="Line 2"/>
            <p:cNvSpPr/>
            <p:nvPr/>
          </p:nvSpPr>
          <p:spPr>
            <a:xfrm>
              <a:off x="609600" y="228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561975" y="180975"/>
              <a:ext cx="11068050" cy="95250"/>
              <a:chOff x="561975" y="180975"/>
              <a:chExt cx="11068050" cy="9525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561975" y="1809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Ellipse 4"/>
              <p:cNvSpPr/>
              <p:nvPr/>
            </p:nvSpPr>
            <p:spPr>
              <a:xfrm>
                <a:off x="2390775" y="1809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4219575" y="1809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Ellipse 6"/>
              <p:cNvSpPr/>
              <p:nvPr/>
            </p:nvSpPr>
            <p:spPr>
              <a:xfrm>
                <a:off x="6048375" y="1809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7877175" y="1809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705975" y="1809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534775" y="1809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604647" y="370999"/>
              <a:ext cx="10982706" cy="190690"/>
              <a:chOff x="604647" y="370999"/>
              <a:chExt cx="10982706" cy="19069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04647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特征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3015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回归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1303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校正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9591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平滑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87919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注视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08933" y="370999"/>
                <a:ext cx="6893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焦点 · 吸附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313592" y="370999"/>
                <a:ext cx="27376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决策</a:t>
                </a:r>
              </a:p>
            </p:txBody>
          </p:sp>
        </p:grpSp>
      </p:grpSp>
      <p:grpSp>
        <p:nvGrpSpPr>
          <p:cNvPr id="22" name="header"/>
          <p:cNvGrpSpPr/>
          <p:nvPr/>
        </p:nvGrpSpPr>
        <p:grpSpPr>
          <a:xfrm>
            <a:off x="595884" y="699135"/>
            <a:ext cx="6569964" cy="778954"/>
            <a:chOff x="595884" y="699135"/>
            <a:chExt cx="6569964" cy="778954"/>
          </a:xfrm>
        </p:grpSpPr>
        <p:sp>
          <p:nvSpPr>
            <p:cNvPr id="20" name="TextBox 20"/>
            <p:cNvSpPr txBox="1"/>
            <p:nvPr/>
          </p:nvSpPr>
          <p:spPr>
            <a:xfrm>
              <a:off x="595884" y="699135"/>
              <a:ext cx="65699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哪些是拿来的，哪些是自己做的，去哪看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1218" y="1155382"/>
              <a:ext cx="47479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引用 4 项、自研 6 项，每一项都能在代码里找到</a:t>
              </a:r>
            </a:p>
          </p:txBody>
        </p:sp>
      </p:grpSp>
      <p:grpSp>
        <p:nvGrpSpPr>
          <p:cNvPr id="32" name="cited"/>
          <p:cNvGrpSpPr/>
          <p:nvPr/>
        </p:nvGrpSpPr>
        <p:grpSpPr>
          <a:xfrm>
            <a:off x="609600" y="1600200"/>
            <a:ext cx="5257800" cy="1714500"/>
            <a:chOff x="609600" y="1600200"/>
            <a:chExt cx="5257800" cy="1714500"/>
          </a:xfrm>
        </p:grpSpPr>
        <p:sp>
          <p:nvSpPr>
            <p:cNvPr id="23" name="Rectangle 23"/>
            <p:cNvSpPr/>
            <p:nvPr/>
          </p:nvSpPr>
          <p:spPr>
            <a:xfrm>
              <a:off x="609600" y="1600200"/>
              <a:ext cx="5257800" cy="17145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38200" y="17716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8E8E9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75360" y="1832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56004" y="18326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现成模型、库和经典算法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31723" y="2205514"/>
              <a:ext cx="3604392" cy="1049464"/>
              <a:chOff x="831723" y="2205514"/>
              <a:chExt cx="3604392" cy="1049464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831723" y="2205514"/>
                <a:ext cx="261334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MediaPipe 人脸关键点（Google）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31723" y="2472214"/>
                <a:ext cx="270313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RealEye 组合特征库（AGPL-3.0）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31723" y="2738914"/>
                <a:ext cx="282283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One Euro 滤波（Casiez 等，2012）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31723" y="3005614"/>
                <a:ext cx="360439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I-DT 注视检测（Salvucci &amp; Goldberg，2000）</a:t>
                </a:r>
              </a:p>
            </p:txBody>
          </p:sp>
        </p:grpSp>
      </p:grpSp>
      <p:grpSp>
        <p:nvGrpSpPr>
          <p:cNvPr id="44" name="own"/>
          <p:cNvGrpSpPr/>
          <p:nvPr/>
        </p:nvGrpSpPr>
        <p:grpSpPr>
          <a:xfrm>
            <a:off x="609600" y="3467100"/>
            <a:ext cx="5257800" cy="2514600"/>
            <a:chOff x="609600" y="3467100"/>
            <a:chExt cx="5257800" cy="2514600"/>
          </a:xfrm>
        </p:grpSpPr>
        <p:sp>
          <p:nvSpPr>
            <p:cNvPr id="33" name="Rectangle 33"/>
            <p:cNvSpPr/>
            <p:nvPr/>
          </p:nvSpPr>
          <p:spPr>
            <a:xfrm>
              <a:off x="609600" y="3467100"/>
              <a:ext cx="5257800" cy="2514600"/>
            </a:xfrm>
            <a:prstGeom prst="roundRect">
              <a:avLst>
                <a:gd name="adj" fmla="val 7576"/>
              </a:avLst>
            </a:prstGeom>
            <a:solidFill>
              <a:schemeClr val="accent1">
                <a:alpha val="6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8200" y="36385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5360" y="3699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56004" y="36995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自己实现或组合创新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831723" y="4072414"/>
              <a:ext cx="3568040" cy="1678114"/>
              <a:chOff x="831723" y="4072414"/>
              <a:chExt cx="3568040" cy="1678114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831723" y="4072414"/>
                <a:ext cx="35680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对偶岭回归 + 分组交叉验证（手写 Cholesky）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31723" y="4358164"/>
                <a:ext cx="31662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残差核漂移校正 + 隐式校准 + 异常值剔除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31723" y="4643914"/>
                <a:ext cx="264935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关键词吸附 + 迟滞 + 单旋钮参数化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31723" y="4929664"/>
                <a:ext cx="242534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两级焦点（软 / 硬）+ 左右分侧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31723" y="5215414"/>
                <a:ext cx="254596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质点—弹簧视线光环 + 超椭圆吸附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31723" y="5501164"/>
                <a:ext cx="19319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Jev 三级级联 + 指代消解</a:t>
                </a:r>
              </a:p>
            </p:txBody>
          </p:sp>
        </p:grpSp>
      </p:grpSp>
      <p:grpSp>
        <p:nvGrpSpPr>
          <p:cNvPr id="73" name="code-map"/>
          <p:cNvGrpSpPr/>
          <p:nvPr/>
        </p:nvGrpSpPr>
        <p:grpSpPr>
          <a:xfrm>
            <a:off x="6172200" y="1600200"/>
            <a:ext cx="5410200" cy="4381500"/>
            <a:chOff x="6172200" y="1600200"/>
            <a:chExt cx="5410200" cy="4381500"/>
          </a:xfrm>
        </p:grpSpPr>
        <p:sp>
          <p:nvSpPr>
            <p:cNvPr id="45" name="Rectangle 45"/>
            <p:cNvSpPr/>
            <p:nvPr/>
          </p:nvSpPr>
          <p:spPr>
            <a:xfrm>
              <a:off x="6172200" y="1600200"/>
              <a:ext cx="5410200" cy="4381500"/>
            </a:xfrm>
            <a:prstGeom prst="roundRect">
              <a:avLst>
                <a:gd name="adj" fmla="val 4348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56363" y="1804988"/>
              <a:ext cx="155575" cy="200026"/>
              <a:chOff x="6456363" y="1804988"/>
              <a:chExt cx="155575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556375" y="180498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22225">
                <a:solidFill>
                  <a:schemeClr val="dk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56363" y="180498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22225">
                <a:solidFill>
                  <a:schemeClr val="dk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00813" y="1916113"/>
                <a:ext cx="11113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44450">
                    <a:moveTo>
                      <a:pt x="11113" y="0"/>
                    </a:moveTo>
                    <a:lnTo>
                      <a:pt x="0" y="22225"/>
                    </a:lnTo>
                    <a:lnTo>
                      <a:pt x="11113" y="44450"/>
                    </a:lnTo>
                  </a:path>
                </a:pathLst>
              </a:custGeom>
              <a:noFill/>
              <a:ln w="22225">
                <a:solidFill>
                  <a:schemeClr val="dk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56375" y="1916113"/>
                <a:ext cx="11113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44450">
                    <a:moveTo>
                      <a:pt x="0" y="0"/>
                    </a:moveTo>
                    <a:lnTo>
                      <a:pt x="11113" y="22225"/>
                    </a:ln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dk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755130" y="1819275"/>
              <a:ext cx="3209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代码地图（src/renderer/src/）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6394704" y="2270760"/>
              <a:ext cx="2346180" cy="3282696"/>
              <a:chOff x="6394704" y="2270760"/>
              <a:chExt cx="2346180" cy="3282696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6394704" y="2270760"/>
                <a:ext cx="137368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gaze/engine.ts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394704" y="2651760"/>
                <a:ext cx="127643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gaze/ridge.ts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394704" y="3032760"/>
                <a:ext cx="19632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gaze/Calibration.tsx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394704" y="3413760"/>
                <a:ext cx="14709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gaze/filters.ts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394704" y="3794760"/>
                <a:ext cx="14709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input/router.ts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394704" y="4175760"/>
                <a:ext cx="137368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focus/focus.ts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394704" y="4556760"/>
                <a:ext cx="23461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focus/magnet.ts, snap.ts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394704" y="4937760"/>
                <a:ext cx="117918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gaze/blob.ts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394704" y="5318760"/>
                <a:ext cx="147728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jev/jevBrain.ts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9061704" y="2270760"/>
              <a:ext cx="1775003" cy="3282696"/>
              <a:chOff x="9061704" y="2270760"/>
              <a:chExt cx="1775003" cy="3282696"/>
            </a:xfrm>
          </p:grpSpPr>
          <p:sp>
            <p:nvSpPr>
              <p:cNvPr id="62" name="TextBox 62"/>
              <p:cNvSpPr txBox="1"/>
              <p:nvPr/>
            </p:nvSpPr>
            <p:spPr>
              <a:xfrm>
                <a:off x="9061704" y="2270760"/>
                <a:ext cx="16276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眼动主循环、漂移校正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061704" y="26517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岭回归拟合与预测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061704" y="3032760"/>
                <a:ext cx="17750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校准点、采集、ptToDeg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061704" y="3413760"/>
                <a:ext cx="153399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One Euro、注视检测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9061704" y="379476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按键路由、隐式校准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9061704" y="417576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软 / 硬焦点控制器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061704" y="455676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关键词吸附、单旋钮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9061704" y="493776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视线光环物理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061704" y="5318760"/>
                <a:ext cx="9793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Jev 决策逻辑</a:t>
                </a:r>
              </a:p>
            </p:txBody>
          </p:sp>
        </p:grpSp>
        <p:sp>
          <p:nvSpPr>
            <p:cNvPr id="72" name="TextBox 72"/>
            <p:cNvSpPr txBox="1"/>
            <p:nvPr/>
          </p:nvSpPr>
          <p:spPr>
            <a:xfrm>
              <a:off x="6395085" y="5688806"/>
              <a:ext cx="3739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完整推导与实验：docs/算法论文/LookAsk_paper.pdf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74" name="Line 74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04266" y="6325552"/>
              <a:ext cx="31910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中文逐条讲解：docs/算法论文/中文学习笔记.pdf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ader"/>
          <p:cNvGrpSpPr/>
          <p:nvPr/>
        </p:nvGrpSpPr>
        <p:grpSpPr>
          <a:xfrm>
            <a:off x="601218" y="622935"/>
            <a:ext cx="4227559" cy="855154"/>
            <a:chOff x="601218" y="622935"/>
            <a:chExt cx="4227559" cy="855154"/>
          </a:xfrm>
        </p:grpSpPr>
        <p:grpSp>
          <p:nvGrpSpPr>
            <p:cNvPr id="5" name="Group 5"/>
            <p:cNvGrpSpPr/>
            <p:nvPr/>
          </p:nvGrpSpPr>
          <p:grpSpPr>
            <a:xfrm>
              <a:off x="657225" y="638175"/>
              <a:ext cx="285751" cy="285751"/>
              <a:chOff x="657225" y="638175"/>
              <a:chExt cx="285751" cy="285751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657225" y="6381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800100" y="8445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776288" y="730225"/>
                <a:ext cx="58222" cy="66745"/>
              </a:xfrm>
              <a:custGeom>
                <a:avLst/>
                <a:gdLst/>
                <a:ahLst/>
                <a:cxnLst/>
                <a:rect l="l" t="t" r="r" b="b"/>
                <a:pathLst>
                  <a:path w="58222" h="66745">
                    <a:moveTo>
                      <a:pt x="23813" y="66701"/>
                    </a:moveTo>
                    <a:cubicBezTo>
                      <a:pt x="38510" y="66745"/>
                      <a:pt x="51317" y="56696"/>
                      <a:pt x="54770" y="42409"/>
                    </a:cubicBezTo>
                    <a:cubicBezTo>
                      <a:pt x="58222" y="28123"/>
                      <a:pt x="51418" y="13334"/>
                      <a:pt x="38322" y="6661"/>
                    </a:cubicBezTo>
                    <a:cubicBezTo>
                      <a:pt x="25319" y="0"/>
                      <a:pt x="9440" y="3177"/>
                      <a:pt x="0" y="14329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091184" y="622935"/>
              <a:ext cx="37375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回来时先答这 7 个问题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115538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每题先自己想，再看下面的答案要点</a:t>
              </a:r>
            </a:p>
          </p:txBody>
        </p:sp>
      </p:grpSp>
      <p:grpSp>
        <p:nvGrpSpPr>
          <p:cNvPr id="14" name="q1"/>
          <p:cNvGrpSpPr/>
          <p:nvPr/>
        </p:nvGrpSpPr>
        <p:grpSpPr>
          <a:xfrm>
            <a:off x="609600" y="1600200"/>
            <a:ext cx="2628900" cy="2095500"/>
            <a:chOff x="609600" y="1600200"/>
            <a:chExt cx="2628900" cy="2095500"/>
          </a:xfrm>
        </p:grpSpPr>
        <p:sp>
          <p:nvSpPr>
            <p:cNvPr id="9" name="Rectangle 9"/>
            <p:cNvSpPr/>
            <p:nvPr/>
          </p:nvSpPr>
          <p:spPr>
            <a:xfrm>
              <a:off x="609600" y="1600200"/>
              <a:ext cx="2628900" cy="20955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71525" y="178117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1658" y="1851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2861" y="224647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对偶形式为什么快？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004" y="2632710"/>
              <a:ext cx="1620012" cy="92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 ≫ N 时在样本空间算，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解 400×400 而不是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1650×1650；N ≫ d 时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反过来用原始形式</a:t>
              </a:r>
            </a:p>
          </p:txBody>
        </p:sp>
      </p:grpSp>
      <p:grpSp>
        <p:nvGrpSpPr>
          <p:cNvPr id="20" name="q2"/>
          <p:cNvGrpSpPr/>
          <p:nvPr/>
        </p:nvGrpSpPr>
        <p:grpSpPr>
          <a:xfrm>
            <a:off x="3390900" y="1600200"/>
            <a:ext cx="2628900" cy="2095500"/>
            <a:chOff x="3390900" y="1600200"/>
            <a:chExt cx="2628900" cy="2095500"/>
          </a:xfrm>
        </p:grpSpPr>
        <p:sp>
          <p:nvSpPr>
            <p:cNvPr id="15" name="Rectangle 15"/>
            <p:cNvSpPr/>
            <p:nvPr/>
          </p:nvSpPr>
          <p:spPr>
            <a:xfrm>
              <a:off x="3390900" y="1600200"/>
              <a:ext cx="2628900" cy="20955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552825" y="178117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42958" y="1851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74161" y="2246471"/>
              <a:ext cx="1457198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交叉验证为什么</a:t>
              </a:r>
              <a:br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要按点整组留出？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75304" y="2880360"/>
              <a:ext cx="168859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同一个点的帧几乎一样，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随机留帧会把误差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低估好几倍</a:t>
              </a:r>
            </a:p>
          </p:txBody>
        </p:sp>
      </p:grpSp>
      <p:grpSp>
        <p:nvGrpSpPr>
          <p:cNvPr id="26" name="q3"/>
          <p:cNvGrpSpPr/>
          <p:nvPr/>
        </p:nvGrpSpPr>
        <p:grpSpPr>
          <a:xfrm>
            <a:off x="6172200" y="1600200"/>
            <a:ext cx="2628900" cy="2095500"/>
            <a:chOff x="6172200" y="1600200"/>
            <a:chExt cx="2628900" cy="2095500"/>
          </a:xfrm>
        </p:grpSpPr>
        <p:sp>
          <p:nvSpPr>
            <p:cNvPr id="21" name="Rectangle 21"/>
            <p:cNvSpPr/>
            <p:nvPr/>
          </p:nvSpPr>
          <p:spPr>
            <a:xfrm>
              <a:off x="6172200" y="1600200"/>
              <a:ext cx="2628900" cy="20955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334125" y="178117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24258" y="1851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5461" y="2246471"/>
              <a:ext cx="1774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收缩因子 k 干嘛用？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6604" y="2632710"/>
              <a:ext cx="153619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证据少或离得远时，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把校正量往 0 收，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防止一次误按带偏全屏</a:t>
              </a:r>
            </a:p>
          </p:txBody>
        </p:sp>
      </p:grpSp>
      <p:grpSp>
        <p:nvGrpSpPr>
          <p:cNvPr id="32" name="q4"/>
          <p:cNvGrpSpPr/>
          <p:nvPr/>
        </p:nvGrpSpPr>
        <p:grpSpPr>
          <a:xfrm>
            <a:off x="8953500" y="1600200"/>
            <a:ext cx="2628900" cy="2095500"/>
            <a:chOff x="8953500" y="1600200"/>
            <a:chExt cx="2628900" cy="2095500"/>
          </a:xfrm>
        </p:grpSpPr>
        <p:sp>
          <p:nvSpPr>
            <p:cNvPr id="27" name="Rectangle 27"/>
            <p:cNvSpPr/>
            <p:nvPr/>
          </p:nvSpPr>
          <p:spPr>
            <a:xfrm>
              <a:off x="8953500" y="1600200"/>
              <a:ext cx="2628900" cy="20955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115425" y="178117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05558" y="1851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36761" y="2246471"/>
              <a:ext cx="1457198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Euro 的 β</a:t>
              </a:r>
              <a:br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调大调小会怎样？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37904" y="2880360"/>
              <a:ext cx="15361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调大：更跟手，但更抖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调小：更稳，但更拖</a:t>
              </a:r>
            </a:p>
          </p:txBody>
        </p:sp>
      </p:grpSp>
      <p:grpSp>
        <p:nvGrpSpPr>
          <p:cNvPr id="38" name="q5"/>
          <p:cNvGrpSpPr/>
          <p:nvPr/>
        </p:nvGrpSpPr>
        <p:grpSpPr>
          <a:xfrm>
            <a:off x="609600" y="3848100"/>
            <a:ext cx="2628900" cy="2133600"/>
            <a:chOff x="609600" y="3848100"/>
            <a:chExt cx="2628900" cy="2133600"/>
          </a:xfrm>
        </p:grpSpPr>
        <p:sp>
          <p:nvSpPr>
            <p:cNvPr id="33" name="Rectangle 33"/>
            <p:cNvSpPr/>
            <p:nvPr/>
          </p:nvSpPr>
          <p:spPr>
            <a:xfrm>
              <a:off x="609600" y="3848100"/>
              <a:ext cx="2628900" cy="2133600"/>
            </a:xfrm>
            <a:prstGeom prst="roundRect">
              <a:avLst>
                <a:gd name="adj" fmla="val 89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71525" y="402907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1658" y="4099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2861" y="4494371"/>
              <a:ext cx="1522571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I-DT 为什么开始和</a:t>
              </a:r>
              <a:br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结束用两个阈值？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4004" y="5128260"/>
              <a:ext cx="18409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迟滞：视线在边界抖动时，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注视不会反复开始、结束</a:t>
              </a:r>
            </a:p>
          </p:txBody>
        </p:sp>
      </p:grpSp>
      <p:grpSp>
        <p:nvGrpSpPr>
          <p:cNvPr id="44" name="q6"/>
          <p:cNvGrpSpPr/>
          <p:nvPr/>
        </p:nvGrpSpPr>
        <p:grpSpPr>
          <a:xfrm>
            <a:off x="3390900" y="3848100"/>
            <a:ext cx="2628900" cy="2133600"/>
            <a:chOff x="3390900" y="3848100"/>
            <a:chExt cx="2628900" cy="2133600"/>
          </a:xfrm>
        </p:grpSpPr>
        <p:sp>
          <p:nvSpPr>
            <p:cNvPr id="39" name="Rectangle 39"/>
            <p:cNvSpPr/>
            <p:nvPr/>
          </p:nvSpPr>
          <p:spPr>
            <a:xfrm>
              <a:off x="3390900" y="3848100"/>
              <a:ext cx="2628900" cy="2133600"/>
            </a:xfrm>
            <a:prstGeom prst="roundRect">
              <a:avLst>
                <a:gd name="adj" fmla="val 89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552825" y="402907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642958" y="4099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74161" y="4494371"/>
              <a:ext cx="1103281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switchRatio</a:t>
              </a:r>
              <a:br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起什么作用？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75304" y="5128260"/>
              <a:ext cx="16885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也是迟滞：两个相近的词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之间，光环不会来回跳</a:t>
              </a:r>
            </a:p>
          </p:txBody>
        </p:sp>
      </p:grpSp>
      <p:grpSp>
        <p:nvGrpSpPr>
          <p:cNvPr id="50" name="q7"/>
          <p:cNvGrpSpPr/>
          <p:nvPr/>
        </p:nvGrpSpPr>
        <p:grpSpPr>
          <a:xfrm>
            <a:off x="6172200" y="3848100"/>
            <a:ext cx="2628900" cy="2133600"/>
            <a:chOff x="6172200" y="3848100"/>
            <a:chExt cx="2628900" cy="2133600"/>
          </a:xfrm>
        </p:grpSpPr>
        <p:sp>
          <p:nvSpPr>
            <p:cNvPr id="45" name="Rectangle 45"/>
            <p:cNvSpPr/>
            <p:nvPr/>
          </p:nvSpPr>
          <p:spPr>
            <a:xfrm>
              <a:off x="6172200" y="3848100"/>
              <a:ext cx="2628900" cy="2133600"/>
            </a:xfrm>
            <a:prstGeom prst="roundRect">
              <a:avLst>
                <a:gd name="adj" fmla="val 89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334125" y="402907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24258" y="4099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55461" y="4494371"/>
              <a:ext cx="1465764" cy="526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为什么数字要先</a:t>
              </a:r>
              <a:br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变成文字给 Jev？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56604" y="5128260"/>
              <a:ext cx="168859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判断模型读数字不可靠，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分档成「很短 / 正常 /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偏长」更稳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8953500" y="3848100"/>
            <a:ext cx="2628900" cy="2133600"/>
            <a:chOff x="8953500" y="3848100"/>
            <a:chExt cx="2628900" cy="2133600"/>
          </a:xfrm>
        </p:grpSpPr>
        <p:sp>
          <p:nvSpPr>
            <p:cNvPr id="51" name="Rectangle 51"/>
            <p:cNvSpPr/>
            <p:nvPr/>
          </p:nvSpPr>
          <p:spPr>
            <a:xfrm>
              <a:off x="8953500" y="3848100"/>
              <a:ext cx="2628900" cy="2133600"/>
            </a:xfrm>
            <a:prstGeom prst="roundRect">
              <a:avLst>
                <a:gd name="adj" fmla="val 89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73718" y="4108132"/>
              <a:ext cx="1527096" cy="894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能答出这 7 问，</a:t>
              </a:r>
              <a:br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整条链路你就</a:t>
              </a:r>
              <a:br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真懂了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76385" y="5250656"/>
              <a:ext cx="166852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答不上来就翻：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中文学习笔记 · 论文 §4–5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604266" y="6172200"/>
            <a:ext cx="10983468" cy="358711"/>
            <a:chOff x="604266" y="6172200"/>
            <a:chExt cx="10983468" cy="358711"/>
          </a:xfrm>
        </p:grpSpPr>
        <p:sp>
          <p:nvSpPr>
            <p:cNvPr id="55" name="Line 55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4266" y="6325552"/>
              <a:ext cx="49267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docs/算法论文/：LookAsk_paper.pdf · 中文学习笔记.pdf · experiments/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0354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ookask_algo_defense">
  <a:themeElements>
    <a:clrScheme name="lookask_algo_defense">
      <a:dk1>
        <a:srgbClr val="1D1D1F"/>
      </a:dk1>
      <a:lt1>
        <a:srgbClr val="FFFFFF"/>
      </a:lt1>
      <a:dk2>
        <a:srgbClr val="1F497D"/>
      </a:dk2>
      <a:lt2>
        <a:srgbClr val="F2F2F7"/>
      </a:lt2>
      <a:accent1>
        <a:srgbClr val="007AFF"/>
      </a:accent1>
      <a:accent2>
        <a:srgbClr val="32ADE6"/>
      </a:accent2>
      <a:accent3>
        <a:srgbClr val="AF52DE"/>
      </a:accent3>
      <a:accent4>
        <a:srgbClr val="007AFF"/>
      </a:accent4>
      <a:accent5>
        <a:srgbClr val="6E6E73"/>
      </a:accent5>
      <a:accent6>
        <a:srgbClr val="D8D8DE"/>
      </a:accent6>
      <a:hlink>
        <a:srgbClr val="32ADE6"/>
      </a:hlink>
      <a:folHlink>
        <a:srgbClr val="AF52DE"/>
      </a:folHlink>
    </a:clrScheme>
    <a:fontScheme name="lookask_algo_defens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ookask_algo_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2026-09-27T17:13:28Z</dcterms:created>
  <dcterms:modified xsi:type="dcterms:W3CDTF">2026-09-27T17:13:28Z</dcterms:modified>
  <cp:category/>
  <cp:contentStatus/>
</cp:coreProperties>
</file>